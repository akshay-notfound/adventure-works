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9" r:id="rId4"/>
    <p:sldId id="260" r:id="rId5"/>
    <p:sldId id="272"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64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9726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50"/>
        </a:solidFill>
        <a:effectLst/>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0E7C86">
              <a:alpha val="22000"/>
            </a:srgbClr>
          </a:solidFill>
          <a:ln/>
        </p:spPr>
      </p:sp>
      <p:sp>
        <p:nvSpPr>
          <p:cNvPr id="3" name="Shape 1"/>
          <p:cNvSpPr/>
          <p:nvPr/>
        </p:nvSpPr>
        <p:spPr>
          <a:xfrm>
            <a:off x="10972800" y="4206240"/>
            <a:ext cx="2743200" cy="2743200"/>
          </a:xfrm>
          <a:prstGeom prst="ellipse">
            <a:avLst/>
          </a:prstGeom>
          <a:solidFill>
            <a:srgbClr val="E8871E">
              <a:alpha val="20000"/>
            </a:srgbClr>
          </a:solidFill>
          <a:ln/>
        </p:spPr>
      </p:sp>
      <p:sp>
        <p:nvSpPr>
          <p:cNvPr id="4" name="Shape 2"/>
          <p:cNvSpPr/>
          <p:nvPr/>
        </p:nvSpPr>
        <p:spPr>
          <a:xfrm>
            <a:off x="-1097280" y="5120640"/>
            <a:ext cx="3108960" cy="3108960"/>
          </a:xfrm>
          <a:prstGeom prst="ellipse">
            <a:avLst/>
          </a:prstGeom>
          <a:solidFill>
            <a:srgbClr val="0E7C86">
              <a:alpha val="18000"/>
            </a:srgbClr>
          </a:solidFill>
          <a:ln/>
        </p:spPr>
      </p:sp>
      <p:sp>
        <p:nvSpPr>
          <p:cNvPr id="5" name="Text 3"/>
          <p:cNvSpPr/>
          <p:nvPr/>
        </p:nvSpPr>
        <p:spPr>
          <a:xfrm>
            <a:off x="822960" y="1051560"/>
            <a:ext cx="7315200" cy="365760"/>
          </a:xfrm>
          <a:prstGeom prst="rect">
            <a:avLst/>
          </a:prstGeom>
          <a:noFill/>
          <a:ln/>
        </p:spPr>
        <p:txBody>
          <a:bodyPr wrap="square" rtlCol="0" anchor="ctr"/>
          <a:lstStyle/>
          <a:p>
            <a:pPr marL="0" indent="0">
              <a:buNone/>
            </a:pPr>
            <a:r>
              <a:rPr lang="en-US" sz="1400" b="1" kern="0" spc="300" dirty="0">
                <a:solidFill>
                  <a:srgbClr val="E8871E"/>
                </a:solidFill>
                <a:latin typeface="Calibri" pitchFamily="34" charset="0"/>
                <a:ea typeface="Calibri" pitchFamily="34" charset="-122"/>
                <a:cs typeface="Calibri" pitchFamily="34" charset="-120"/>
              </a:rPr>
              <a:t>DATA ANALYTICS PROJECT</a:t>
            </a:r>
            <a:endParaRPr lang="en-US" sz="1400" dirty="0"/>
          </a:p>
        </p:txBody>
      </p:sp>
      <p:sp>
        <p:nvSpPr>
          <p:cNvPr id="6" name="Text 4"/>
          <p:cNvSpPr/>
          <p:nvPr/>
        </p:nvSpPr>
        <p:spPr>
          <a:xfrm>
            <a:off x="777240" y="1417320"/>
            <a:ext cx="9601200" cy="1188720"/>
          </a:xfrm>
          <a:prstGeom prst="rect">
            <a:avLst/>
          </a:prstGeom>
          <a:noFill/>
          <a:ln/>
        </p:spPr>
        <p:txBody>
          <a:bodyPr wrap="square"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Adventure Works</a:t>
            </a:r>
            <a:endParaRPr lang="en-US" sz="5600" dirty="0"/>
          </a:p>
        </p:txBody>
      </p:sp>
      <p:sp>
        <p:nvSpPr>
          <p:cNvPr id="7" name="Text 5"/>
          <p:cNvSpPr/>
          <p:nvPr/>
        </p:nvSpPr>
        <p:spPr>
          <a:xfrm>
            <a:off x="822960" y="2395728"/>
            <a:ext cx="8686800" cy="548640"/>
          </a:xfrm>
          <a:prstGeom prst="rect">
            <a:avLst/>
          </a:prstGeom>
          <a:noFill/>
          <a:ln/>
        </p:spPr>
        <p:txBody>
          <a:bodyPr wrap="square" rtlCol="0" anchor="ctr"/>
          <a:lstStyle/>
          <a:p>
            <a:pPr marL="0" indent="0">
              <a:buNone/>
            </a:pPr>
            <a:r>
              <a:rPr lang="en-US" sz="2200" i="1" dirty="0">
                <a:solidFill>
                  <a:srgbClr val="DCEEF0"/>
                </a:solidFill>
                <a:latin typeface="Calibri" pitchFamily="34" charset="0"/>
                <a:ea typeface="Calibri" pitchFamily="34" charset="-122"/>
                <a:cs typeface="Calibri" pitchFamily="34" charset="-120"/>
              </a:rPr>
              <a:t>Sales Performance Analysis</a:t>
            </a:r>
            <a:endParaRPr lang="en-US" sz="2200" dirty="0"/>
          </a:p>
        </p:txBody>
      </p:sp>
      <p:sp>
        <p:nvSpPr>
          <p:cNvPr id="8" name="Shape 6"/>
          <p:cNvSpPr/>
          <p:nvPr/>
        </p:nvSpPr>
        <p:spPr>
          <a:xfrm>
            <a:off x="822960" y="3063240"/>
            <a:ext cx="781812" cy="365760"/>
          </a:xfrm>
          <a:prstGeom prst="roundRect">
            <a:avLst>
              <a:gd name="adj" fmla="val 20000"/>
            </a:avLst>
          </a:prstGeom>
          <a:solidFill>
            <a:srgbClr val="1B3358"/>
          </a:solidFill>
          <a:ln w="12700">
            <a:solidFill>
              <a:srgbClr val="0E7C86"/>
            </a:solidFill>
            <a:prstDash val="solid"/>
          </a:ln>
        </p:spPr>
      </p:sp>
      <p:sp>
        <p:nvSpPr>
          <p:cNvPr id="9" name="Text 7"/>
          <p:cNvSpPr/>
          <p:nvPr/>
        </p:nvSpPr>
        <p:spPr>
          <a:xfrm>
            <a:off x="822960" y="3063240"/>
            <a:ext cx="781812"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EXCEL</a:t>
            </a:r>
            <a:endParaRPr lang="en-US" sz="1100" dirty="0"/>
          </a:p>
        </p:txBody>
      </p:sp>
      <p:sp>
        <p:nvSpPr>
          <p:cNvPr id="10" name="Shape 8"/>
          <p:cNvSpPr/>
          <p:nvPr/>
        </p:nvSpPr>
        <p:spPr>
          <a:xfrm>
            <a:off x="1769364" y="3063240"/>
            <a:ext cx="781812" cy="365760"/>
          </a:xfrm>
          <a:prstGeom prst="roundRect">
            <a:avLst>
              <a:gd name="adj" fmla="val 20000"/>
            </a:avLst>
          </a:prstGeom>
          <a:solidFill>
            <a:srgbClr val="1B3358"/>
          </a:solidFill>
          <a:ln w="12700">
            <a:solidFill>
              <a:srgbClr val="0E7C86"/>
            </a:solidFill>
            <a:prstDash val="solid"/>
          </a:ln>
        </p:spPr>
      </p:sp>
      <p:sp>
        <p:nvSpPr>
          <p:cNvPr id="11" name="Text 9"/>
          <p:cNvSpPr/>
          <p:nvPr/>
        </p:nvSpPr>
        <p:spPr>
          <a:xfrm>
            <a:off x="1769364" y="3063240"/>
            <a:ext cx="781812"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MySQL</a:t>
            </a:r>
            <a:endParaRPr lang="en-US" sz="1100" dirty="0"/>
          </a:p>
        </p:txBody>
      </p:sp>
      <p:sp>
        <p:nvSpPr>
          <p:cNvPr id="12" name="Shape 10"/>
          <p:cNvSpPr/>
          <p:nvPr/>
        </p:nvSpPr>
        <p:spPr>
          <a:xfrm>
            <a:off x="2715768" y="3063240"/>
            <a:ext cx="992124" cy="365760"/>
          </a:xfrm>
          <a:prstGeom prst="roundRect">
            <a:avLst>
              <a:gd name="adj" fmla="val 20000"/>
            </a:avLst>
          </a:prstGeom>
          <a:solidFill>
            <a:srgbClr val="1B3358"/>
          </a:solidFill>
          <a:ln w="12700">
            <a:solidFill>
              <a:srgbClr val="0E7C86"/>
            </a:solidFill>
            <a:prstDash val="solid"/>
          </a:ln>
        </p:spPr>
      </p:sp>
      <p:sp>
        <p:nvSpPr>
          <p:cNvPr id="13" name="Text 11"/>
          <p:cNvSpPr/>
          <p:nvPr/>
        </p:nvSpPr>
        <p:spPr>
          <a:xfrm>
            <a:off x="2715768" y="3063240"/>
            <a:ext cx="992124"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TABLEAU</a:t>
            </a:r>
            <a:endParaRPr lang="en-US" sz="1100" dirty="0"/>
          </a:p>
        </p:txBody>
      </p:sp>
      <p:sp>
        <p:nvSpPr>
          <p:cNvPr id="14" name="Shape 12"/>
          <p:cNvSpPr/>
          <p:nvPr/>
        </p:nvSpPr>
        <p:spPr>
          <a:xfrm>
            <a:off x="3872484" y="3063240"/>
            <a:ext cx="1097280" cy="365760"/>
          </a:xfrm>
          <a:prstGeom prst="roundRect">
            <a:avLst>
              <a:gd name="adj" fmla="val 20000"/>
            </a:avLst>
          </a:prstGeom>
          <a:solidFill>
            <a:srgbClr val="1B3358"/>
          </a:solidFill>
          <a:ln w="12700">
            <a:solidFill>
              <a:srgbClr val="0E7C86"/>
            </a:solidFill>
            <a:prstDash val="solid"/>
          </a:ln>
        </p:spPr>
      </p:sp>
      <p:sp>
        <p:nvSpPr>
          <p:cNvPr id="15" name="Text 13"/>
          <p:cNvSpPr/>
          <p:nvPr/>
        </p:nvSpPr>
        <p:spPr>
          <a:xfrm>
            <a:off x="3872484" y="3063240"/>
            <a:ext cx="109728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POWER BI</a:t>
            </a:r>
            <a:endParaRPr lang="en-US" sz="1100" dirty="0"/>
          </a:p>
        </p:txBody>
      </p:sp>
      <p:sp>
        <p:nvSpPr>
          <p:cNvPr id="16" name="Shape 14"/>
          <p:cNvSpPr/>
          <p:nvPr/>
        </p:nvSpPr>
        <p:spPr>
          <a:xfrm>
            <a:off x="5134356" y="3063240"/>
            <a:ext cx="1412748" cy="365760"/>
          </a:xfrm>
          <a:prstGeom prst="roundRect">
            <a:avLst>
              <a:gd name="adj" fmla="val 20000"/>
            </a:avLst>
          </a:prstGeom>
          <a:solidFill>
            <a:srgbClr val="1B3358"/>
          </a:solidFill>
          <a:ln w="12700">
            <a:solidFill>
              <a:srgbClr val="0E7C86"/>
            </a:solidFill>
            <a:prstDash val="solid"/>
          </a:ln>
        </p:spPr>
      </p:sp>
      <p:sp>
        <p:nvSpPr>
          <p:cNvPr id="17" name="Text 15"/>
          <p:cNvSpPr/>
          <p:nvPr/>
        </p:nvSpPr>
        <p:spPr>
          <a:xfrm>
            <a:off x="5134356" y="3063240"/>
            <a:ext cx="14127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POWER QUERY</a:t>
            </a:r>
            <a:endParaRPr lang="en-US" sz="1100" dirty="0"/>
          </a:p>
        </p:txBody>
      </p:sp>
      <p:sp>
        <p:nvSpPr>
          <p:cNvPr id="18" name="Shape 16"/>
          <p:cNvSpPr/>
          <p:nvPr/>
        </p:nvSpPr>
        <p:spPr>
          <a:xfrm>
            <a:off x="777240" y="3611880"/>
            <a:ext cx="10607040" cy="2697480"/>
          </a:xfrm>
          <a:prstGeom prst="roundRect">
            <a:avLst>
              <a:gd name="adj" fmla="val 2712"/>
            </a:avLst>
          </a:prstGeom>
          <a:solidFill>
            <a:srgbClr val="FFFFFF"/>
          </a:solidFill>
          <a:ln/>
          <a:effectLst>
            <a:outerShdw blurRad="152400" dist="38100" dir="5400000" algn="bl" rotWithShape="0">
              <a:srgbClr val="000000">
                <a:alpha val="25000"/>
              </a:srgbClr>
            </a:outerShdw>
          </a:effectLst>
        </p:spPr>
      </p:sp>
      <p:sp>
        <p:nvSpPr>
          <p:cNvPr id="19" name="Text 17"/>
          <p:cNvSpPr/>
          <p:nvPr/>
        </p:nvSpPr>
        <p:spPr>
          <a:xfrm>
            <a:off x="1051560" y="3785616"/>
            <a:ext cx="3657600" cy="292608"/>
          </a:xfrm>
          <a:prstGeom prst="rect">
            <a:avLst/>
          </a:prstGeom>
          <a:noFill/>
          <a:ln/>
        </p:spPr>
        <p:txBody>
          <a:bodyPr wrap="square" rtlCol="0" anchor="ctr"/>
          <a:lstStyle/>
          <a:p>
            <a:pPr marL="0" indent="0">
              <a:buNone/>
            </a:pPr>
            <a:r>
              <a:rPr lang="en-US" sz="1300" b="1" kern="0" spc="200" dirty="0">
                <a:solidFill>
                  <a:srgbClr val="E8871E"/>
                </a:solidFill>
                <a:latin typeface="Calibri" pitchFamily="34" charset="0"/>
                <a:ea typeface="Calibri" pitchFamily="34" charset="-122"/>
                <a:cs typeface="Calibri" pitchFamily="34" charset="-120"/>
              </a:rPr>
              <a:t>GROUP 4</a:t>
            </a:r>
            <a:endParaRPr lang="en-US" sz="1300" dirty="0"/>
          </a:p>
        </p:txBody>
      </p:sp>
      <p:sp>
        <p:nvSpPr>
          <p:cNvPr id="20" name="Text 18"/>
          <p:cNvSpPr/>
          <p:nvPr/>
        </p:nvSpPr>
        <p:spPr>
          <a:xfrm>
            <a:off x="1051560" y="4041648"/>
            <a:ext cx="7315200" cy="365760"/>
          </a:xfrm>
          <a:prstGeom prst="rect">
            <a:avLst/>
          </a:prstGeom>
          <a:noFill/>
          <a:ln/>
        </p:spPr>
        <p:txBody>
          <a:bodyPr wrap="square" rtlCol="0" anchor="ctr"/>
          <a:lstStyle/>
          <a:p>
            <a:pPr marL="0" indent="0">
              <a:buNone/>
            </a:pPr>
            <a:r>
              <a:rPr lang="en-US" sz="1800" b="1" dirty="0">
                <a:solidFill>
                  <a:srgbClr val="142850"/>
                </a:solidFill>
                <a:latin typeface="Cambria" pitchFamily="34" charset="0"/>
                <a:ea typeface="Cambria" pitchFamily="34" charset="-122"/>
                <a:cs typeface="Cambria" pitchFamily="34" charset="-120"/>
              </a:rPr>
              <a:t>Project Team — 7 Members &amp; Roles</a:t>
            </a:r>
            <a:endParaRPr lang="en-US" sz="1800" dirty="0"/>
          </a:p>
        </p:txBody>
      </p:sp>
      <p:sp>
        <p:nvSpPr>
          <p:cNvPr id="21" name="Shape 19"/>
          <p:cNvSpPr/>
          <p:nvPr/>
        </p:nvSpPr>
        <p:spPr>
          <a:xfrm>
            <a:off x="1051560" y="4626864"/>
            <a:ext cx="109728" cy="109728"/>
          </a:xfrm>
          <a:prstGeom prst="ellipse">
            <a:avLst/>
          </a:prstGeom>
          <a:solidFill>
            <a:srgbClr val="E8871E"/>
          </a:solidFill>
          <a:ln/>
        </p:spPr>
      </p:sp>
      <p:sp>
        <p:nvSpPr>
          <p:cNvPr id="22" name="Text 20"/>
          <p:cNvSpPr/>
          <p:nvPr/>
        </p:nvSpPr>
        <p:spPr>
          <a:xfrm>
            <a:off x="1280160" y="4495800"/>
            <a:ext cx="3063240" cy="320040"/>
          </a:xfrm>
          <a:prstGeom prst="rect">
            <a:avLst/>
          </a:prstGeom>
          <a:noFill/>
          <a:ln/>
        </p:spPr>
        <p:txBody>
          <a:bodyPr wrap="square" rtlCol="0" anchor="ctr"/>
          <a:lstStyle/>
          <a:p>
            <a:pPr marL="0" indent="0">
              <a:buNone/>
            </a:pPr>
            <a:r>
              <a:rPr lang="en-US" sz="1000" dirty="0">
                <a:solidFill>
                  <a:srgbClr val="1F2937"/>
                </a:solidFill>
                <a:latin typeface="Calibri" pitchFamily="34" charset="0"/>
                <a:ea typeface="Calibri" pitchFamily="34" charset="-122"/>
                <a:cs typeface="Calibri" pitchFamily="34" charset="-120"/>
              </a:rPr>
              <a:t>Akshay Rathod  —  Data Analyst</a:t>
            </a:r>
            <a:endParaRPr lang="en-US" sz="1300" dirty="0"/>
          </a:p>
        </p:txBody>
      </p:sp>
      <p:sp>
        <p:nvSpPr>
          <p:cNvPr id="23" name="Shape 21"/>
          <p:cNvSpPr/>
          <p:nvPr/>
        </p:nvSpPr>
        <p:spPr>
          <a:xfrm>
            <a:off x="1051560" y="4992624"/>
            <a:ext cx="109728" cy="109728"/>
          </a:xfrm>
          <a:prstGeom prst="ellipse">
            <a:avLst/>
          </a:prstGeom>
          <a:solidFill>
            <a:srgbClr val="E8871E"/>
          </a:solidFill>
          <a:ln/>
        </p:spPr>
      </p:sp>
      <p:sp>
        <p:nvSpPr>
          <p:cNvPr id="24" name="Text 22"/>
          <p:cNvSpPr/>
          <p:nvPr/>
        </p:nvSpPr>
        <p:spPr>
          <a:xfrm>
            <a:off x="1280160" y="4861560"/>
            <a:ext cx="3063240" cy="320040"/>
          </a:xfrm>
          <a:prstGeom prst="rect">
            <a:avLst/>
          </a:prstGeom>
          <a:noFill/>
          <a:ln/>
        </p:spPr>
        <p:txBody>
          <a:bodyPr wrap="square" rtlCol="0" anchor="ctr"/>
          <a:lstStyle/>
          <a:p>
            <a:pPr marL="0" indent="0">
              <a:buNone/>
            </a:pPr>
            <a:r>
              <a:rPr lang="en-US" sz="1000" dirty="0">
                <a:solidFill>
                  <a:srgbClr val="1F2937"/>
                </a:solidFill>
                <a:latin typeface="Calibri" pitchFamily="34" charset="0"/>
                <a:ea typeface="Calibri" pitchFamily="34" charset="-122"/>
                <a:cs typeface="Calibri" pitchFamily="34" charset="-120"/>
              </a:rPr>
              <a:t>Ega Venkat Sai  —  Data Analyst</a:t>
            </a:r>
            <a:endParaRPr lang="en-US" sz="1300" dirty="0"/>
          </a:p>
        </p:txBody>
      </p:sp>
      <p:sp>
        <p:nvSpPr>
          <p:cNvPr id="25" name="Shape 23"/>
          <p:cNvSpPr/>
          <p:nvPr/>
        </p:nvSpPr>
        <p:spPr>
          <a:xfrm>
            <a:off x="1051560" y="5358384"/>
            <a:ext cx="109728" cy="109728"/>
          </a:xfrm>
          <a:prstGeom prst="ellipse">
            <a:avLst/>
          </a:prstGeom>
          <a:solidFill>
            <a:srgbClr val="E8871E"/>
          </a:solidFill>
          <a:ln/>
        </p:spPr>
      </p:sp>
      <p:sp>
        <p:nvSpPr>
          <p:cNvPr id="26" name="Text 24"/>
          <p:cNvSpPr/>
          <p:nvPr/>
        </p:nvSpPr>
        <p:spPr>
          <a:xfrm>
            <a:off x="1280160" y="5227320"/>
            <a:ext cx="3063240" cy="320040"/>
          </a:xfrm>
          <a:prstGeom prst="rect">
            <a:avLst/>
          </a:prstGeom>
          <a:noFill/>
          <a:ln/>
        </p:spPr>
        <p:txBody>
          <a:bodyPr wrap="square" rtlCol="0" anchor="ctr"/>
          <a:lstStyle/>
          <a:p>
            <a:pPr marL="0" indent="0">
              <a:buNone/>
            </a:pPr>
            <a:r>
              <a:rPr lang="en-US" sz="1000" dirty="0">
                <a:solidFill>
                  <a:srgbClr val="1F2937"/>
                </a:solidFill>
                <a:latin typeface="Calibri" pitchFamily="34" charset="0"/>
                <a:ea typeface="Calibri" pitchFamily="34" charset="-122"/>
                <a:cs typeface="Calibri" pitchFamily="34" charset="-120"/>
              </a:rPr>
              <a:t>Usirikayala Vishnu Vamsi  —  Data Analyst</a:t>
            </a:r>
            <a:endParaRPr lang="en-US" sz="1300" dirty="0"/>
          </a:p>
        </p:txBody>
      </p:sp>
      <p:sp>
        <p:nvSpPr>
          <p:cNvPr id="27" name="Shape 25"/>
          <p:cNvSpPr/>
          <p:nvPr/>
        </p:nvSpPr>
        <p:spPr>
          <a:xfrm>
            <a:off x="1051560" y="5724144"/>
            <a:ext cx="109728" cy="109728"/>
          </a:xfrm>
          <a:prstGeom prst="ellipse">
            <a:avLst/>
          </a:prstGeom>
          <a:solidFill>
            <a:srgbClr val="E8871E"/>
          </a:solidFill>
          <a:ln/>
        </p:spPr>
      </p:sp>
      <p:sp>
        <p:nvSpPr>
          <p:cNvPr id="28" name="Text 26"/>
          <p:cNvSpPr/>
          <p:nvPr/>
        </p:nvSpPr>
        <p:spPr>
          <a:xfrm>
            <a:off x="1280160" y="5593080"/>
            <a:ext cx="3063240" cy="320040"/>
          </a:xfrm>
          <a:prstGeom prst="rect">
            <a:avLst/>
          </a:prstGeom>
          <a:noFill/>
          <a:ln/>
        </p:spPr>
        <p:txBody>
          <a:bodyPr wrap="square" rtlCol="0" anchor="ctr"/>
          <a:lstStyle/>
          <a:p>
            <a:pPr marL="0" indent="0">
              <a:buNone/>
            </a:pPr>
            <a:r>
              <a:rPr lang="en-US" sz="1000" dirty="0">
                <a:solidFill>
                  <a:srgbClr val="1F2937"/>
                </a:solidFill>
                <a:latin typeface="Calibri" pitchFamily="34" charset="0"/>
                <a:ea typeface="Calibri" pitchFamily="34" charset="-122"/>
                <a:cs typeface="Calibri" pitchFamily="34" charset="-120"/>
              </a:rPr>
              <a:t>Bathala Siva Kumar  —  Data Analyst</a:t>
            </a:r>
            <a:endParaRPr lang="en-US" sz="1300" dirty="0"/>
          </a:p>
        </p:txBody>
      </p:sp>
      <p:sp>
        <p:nvSpPr>
          <p:cNvPr id="29" name="Shape 27"/>
          <p:cNvSpPr/>
          <p:nvPr/>
        </p:nvSpPr>
        <p:spPr>
          <a:xfrm>
            <a:off x="4434840" y="4626864"/>
            <a:ext cx="109728" cy="109728"/>
          </a:xfrm>
          <a:prstGeom prst="ellipse">
            <a:avLst/>
          </a:prstGeom>
          <a:solidFill>
            <a:srgbClr val="E8871E"/>
          </a:solidFill>
          <a:ln/>
        </p:spPr>
      </p:sp>
      <p:sp>
        <p:nvSpPr>
          <p:cNvPr id="30" name="Text 28"/>
          <p:cNvSpPr/>
          <p:nvPr/>
        </p:nvSpPr>
        <p:spPr>
          <a:xfrm>
            <a:off x="4663440" y="4495800"/>
            <a:ext cx="3063240" cy="320040"/>
          </a:xfrm>
          <a:prstGeom prst="rect">
            <a:avLst/>
          </a:prstGeom>
          <a:noFill/>
          <a:ln/>
        </p:spPr>
        <p:txBody>
          <a:bodyPr wrap="square" rtlCol="0" anchor="ctr"/>
          <a:lstStyle/>
          <a:p>
            <a:pPr marL="0" indent="0">
              <a:buNone/>
            </a:pPr>
            <a:r>
              <a:rPr lang="en-US" sz="1000" dirty="0">
                <a:solidFill>
                  <a:srgbClr val="1F2937"/>
                </a:solidFill>
                <a:latin typeface="Calibri" pitchFamily="34" charset="0"/>
                <a:ea typeface="Calibri" pitchFamily="34" charset="-122"/>
                <a:cs typeface="Calibri" pitchFamily="34" charset="-120"/>
              </a:rPr>
              <a:t>Pratyush Parashar  —  Business Analyst</a:t>
            </a:r>
            <a:endParaRPr lang="en-US" sz="1300" dirty="0"/>
          </a:p>
        </p:txBody>
      </p:sp>
      <p:sp>
        <p:nvSpPr>
          <p:cNvPr id="31" name="Shape 29"/>
          <p:cNvSpPr/>
          <p:nvPr/>
        </p:nvSpPr>
        <p:spPr>
          <a:xfrm>
            <a:off x="4434840" y="4992624"/>
            <a:ext cx="109728" cy="109728"/>
          </a:xfrm>
          <a:prstGeom prst="ellipse">
            <a:avLst/>
          </a:prstGeom>
          <a:solidFill>
            <a:srgbClr val="E8871E"/>
          </a:solidFill>
          <a:ln/>
        </p:spPr>
      </p:sp>
      <p:sp>
        <p:nvSpPr>
          <p:cNvPr id="32" name="Text 30"/>
          <p:cNvSpPr/>
          <p:nvPr/>
        </p:nvSpPr>
        <p:spPr>
          <a:xfrm>
            <a:off x="4663440" y="4861560"/>
            <a:ext cx="3063240" cy="320040"/>
          </a:xfrm>
          <a:prstGeom prst="rect">
            <a:avLst/>
          </a:prstGeom>
          <a:noFill/>
          <a:ln/>
        </p:spPr>
        <p:txBody>
          <a:bodyPr wrap="square" rtlCol="0" anchor="ctr"/>
          <a:lstStyle/>
          <a:p>
            <a:pPr marL="0" indent="0">
              <a:buNone/>
            </a:pPr>
            <a:r>
              <a:rPr lang="en-US" sz="1000" dirty="0">
                <a:solidFill>
                  <a:srgbClr val="1F2937"/>
                </a:solidFill>
                <a:latin typeface="Calibri" pitchFamily="34" charset="0"/>
                <a:ea typeface="Calibri" pitchFamily="34" charset="-122"/>
                <a:cs typeface="Calibri" pitchFamily="34" charset="-120"/>
              </a:rPr>
              <a:t>Hitesh Prajapati  —  Data Analyst</a:t>
            </a:r>
            <a:endParaRPr lang="en-US" sz="1300" dirty="0"/>
          </a:p>
        </p:txBody>
      </p:sp>
      <p:sp>
        <p:nvSpPr>
          <p:cNvPr id="33" name="Shape 31"/>
          <p:cNvSpPr/>
          <p:nvPr/>
        </p:nvSpPr>
        <p:spPr>
          <a:xfrm>
            <a:off x="4434840" y="5358384"/>
            <a:ext cx="109728" cy="109728"/>
          </a:xfrm>
          <a:prstGeom prst="ellipse">
            <a:avLst/>
          </a:prstGeom>
          <a:solidFill>
            <a:srgbClr val="E8871E"/>
          </a:solidFill>
          <a:ln/>
        </p:spPr>
      </p:sp>
      <p:sp>
        <p:nvSpPr>
          <p:cNvPr id="34" name="Text 32"/>
          <p:cNvSpPr/>
          <p:nvPr/>
        </p:nvSpPr>
        <p:spPr>
          <a:xfrm>
            <a:off x="4663440" y="5227320"/>
            <a:ext cx="3063240" cy="320040"/>
          </a:xfrm>
          <a:prstGeom prst="rect">
            <a:avLst/>
          </a:prstGeom>
          <a:noFill/>
          <a:ln/>
        </p:spPr>
        <p:txBody>
          <a:bodyPr wrap="square" rtlCol="0" anchor="ctr"/>
          <a:lstStyle/>
          <a:p>
            <a:pPr marL="0" indent="0">
              <a:buNone/>
            </a:pPr>
            <a:r>
              <a:rPr lang="en-US" sz="1000" dirty="0">
                <a:solidFill>
                  <a:srgbClr val="1F2937"/>
                </a:solidFill>
                <a:latin typeface="Calibri" pitchFamily="34" charset="0"/>
                <a:ea typeface="Calibri" pitchFamily="34" charset="-122"/>
                <a:cs typeface="Calibri" pitchFamily="34" charset="-120"/>
              </a:rPr>
              <a:t>Prashant Pankaj Singh  —  Data Analyst</a:t>
            </a:r>
            <a:endParaRPr lang="en-US" sz="1300" dirty="0"/>
          </a:p>
        </p:txBody>
      </p:sp>
      <p:sp>
        <p:nvSpPr>
          <p:cNvPr id="35" name="Text 33"/>
          <p:cNvSpPr/>
          <p:nvPr/>
        </p:nvSpPr>
        <p:spPr>
          <a:xfrm>
            <a:off x="777240" y="6492240"/>
            <a:ext cx="10607040" cy="274320"/>
          </a:xfrm>
          <a:prstGeom prst="rect">
            <a:avLst/>
          </a:prstGeom>
          <a:noFill/>
          <a:ln/>
        </p:spPr>
        <p:txBody>
          <a:bodyPr wrap="square" rtlCol="0" anchor="ctr"/>
          <a:lstStyle/>
          <a:p>
            <a:pPr marL="0" indent="0" algn="ctr">
              <a:buNone/>
            </a:pPr>
            <a:r>
              <a:rPr lang="en-US" sz="1000" dirty="0">
                <a:solidFill>
                  <a:srgbClr val="DCEEF0"/>
                </a:solidFill>
                <a:latin typeface="Calibri" pitchFamily="34" charset="0"/>
                <a:ea typeface="Calibri" pitchFamily="34" charset="-122"/>
                <a:cs typeface="Calibri" pitchFamily="34" charset="-120"/>
              </a:rPr>
              <a:t>AdventureWorks Cycles  |  Multinational Sales Analysis  |  2010–2014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750"/>
                                        <p:tgtEl>
                                          <p:spTgt spid="2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750"/>
                                        <p:tgtEl>
                                          <p:spTgt spid="2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down)">
                                      <p:cBhvr>
                                        <p:cTn id="13" dur="750"/>
                                        <p:tgtEl>
                                          <p:spTgt spid="3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wipe(down)">
                                      <p:cBhvr>
                                        <p:cTn id="16" dur="750"/>
                                        <p:tgtEl>
                                          <p:spTgt spid="3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down)">
                                      <p:cBhvr>
                                        <p:cTn id="19" dur="750"/>
                                        <p:tgtEl>
                                          <p:spTgt spid="26"/>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down)">
                                      <p:cBhvr>
                                        <p:cTn id="22" dur="750"/>
                                        <p:tgtEl>
                                          <p:spTgt spid="3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down)">
                                      <p:cBhvr>
                                        <p:cTn id="25" dur="7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6" grpId="0" animBg="1"/>
      <p:bldP spid="28" grpId="0" animBg="1"/>
      <p:bldP spid="30" grpId="0" animBg="1"/>
      <p:bldP spid="32" grpId="0" animBg="1"/>
      <p:bldP spid="3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PROJECT OVERVIEW</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About Adventure Works Cycles</a:t>
            </a:r>
            <a:endParaRPr lang="en-US" sz="1300" dirty="0"/>
          </a:p>
        </p:txBody>
      </p:sp>
      <p:sp>
        <p:nvSpPr>
          <p:cNvPr id="4" name="Shape 2"/>
          <p:cNvSpPr/>
          <p:nvPr/>
        </p:nvSpPr>
        <p:spPr>
          <a:xfrm>
            <a:off x="548640" y="1417320"/>
            <a:ext cx="6675120" cy="4434840"/>
          </a:xfrm>
          <a:prstGeom prst="roundRect">
            <a:avLst>
              <a:gd name="adj" fmla="val 1237"/>
            </a:avLst>
          </a:prstGeom>
          <a:solidFill>
            <a:srgbClr val="F5F7FA"/>
          </a:solidFill>
          <a:ln/>
        </p:spPr>
      </p:sp>
      <p:sp>
        <p:nvSpPr>
          <p:cNvPr id="5" name="Text 3"/>
          <p:cNvSpPr/>
          <p:nvPr/>
        </p:nvSpPr>
        <p:spPr>
          <a:xfrm>
            <a:off x="822960" y="1691640"/>
            <a:ext cx="6126480" cy="3886200"/>
          </a:xfrm>
          <a:prstGeom prst="rect">
            <a:avLst/>
          </a:prstGeom>
          <a:noFill/>
          <a:ln/>
        </p:spPr>
        <p:txBody>
          <a:bodyPr wrap="square" rtlCol="0" anchor="t"/>
          <a:lstStyle/>
          <a:p>
            <a:pPr marL="0" indent="0">
              <a:lnSpc>
                <a:spcPct val="125000"/>
              </a:lnSpc>
              <a:buNone/>
            </a:pPr>
            <a:r>
              <a:rPr lang="en-US" sz="1300" b="1" dirty="0">
                <a:solidFill>
                  <a:srgbClr val="142850"/>
                </a:solidFill>
                <a:latin typeface="Calibri" pitchFamily="34" charset="0"/>
                <a:ea typeface="Calibri" pitchFamily="34" charset="-122"/>
                <a:cs typeface="Calibri" pitchFamily="34" charset="-120"/>
              </a:rPr>
              <a:t>Adventure Works Cycles </a:t>
            </a:r>
            <a:r>
              <a:rPr lang="en-US" sz="1300" dirty="0">
                <a:solidFill>
                  <a:srgbClr val="1F2937"/>
                </a:solidFill>
                <a:latin typeface="Calibri" pitchFamily="34" charset="0"/>
                <a:ea typeface="Calibri" pitchFamily="34" charset="-122"/>
                <a:cs typeface="Calibri" pitchFamily="34" charset="-120"/>
              </a:rPr>
              <a:t>is a large, multinational manufacturing company that designs and sells metal and composite bicycles across North American, European, and Asian commercial markets. Its base of operations is in Bothell, Washington, with 290 employees supported by regional sales teams worldwide.
</a:t>
            </a:r>
            <a:r>
              <a:rPr lang="en-US" sz="1300" b="1" dirty="0">
                <a:solidFill>
                  <a:srgbClr val="142850"/>
                </a:solidFill>
                <a:latin typeface="Calibri" pitchFamily="34" charset="0"/>
                <a:ea typeface="Calibri" pitchFamily="34" charset="-122"/>
                <a:cs typeface="Calibri" pitchFamily="34" charset="-120"/>
              </a:rPr>
              <a:t>In the 2000s, </a:t>
            </a:r>
            <a:r>
              <a:rPr lang="en-US" sz="1300" dirty="0">
                <a:solidFill>
                  <a:srgbClr val="1F2937"/>
                </a:solidFill>
                <a:latin typeface="Calibri" pitchFamily="34" charset="0"/>
                <a:ea typeface="Calibri" pitchFamily="34" charset="-122"/>
                <a:cs typeface="Calibri" pitchFamily="34" charset="-120"/>
              </a:rPr>
              <a:t>the company acquired a manufacturing plant in Mexico that produces critical subcomponents, shipped to Bothell for final assembly. By 2001, this plant became the sole manufacturer and distributor of the touring bicycle product group.
</a:t>
            </a:r>
            <a:r>
              <a:rPr lang="en-US" sz="1300" b="1" dirty="0">
                <a:solidFill>
                  <a:srgbClr val="142850"/>
                </a:solidFill>
                <a:latin typeface="Calibri" pitchFamily="34" charset="0"/>
                <a:ea typeface="Calibri" pitchFamily="34" charset="-122"/>
                <a:cs typeface="Calibri" pitchFamily="34" charset="-120"/>
              </a:rPr>
              <a:t>Coming off a successful fiscal year, </a:t>
            </a:r>
            <a:r>
              <a:rPr lang="en-US" sz="1300" dirty="0">
                <a:solidFill>
                  <a:srgbClr val="1F2937"/>
                </a:solidFill>
                <a:latin typeface="Calibri" pitchFamily="34" charset="0"/>
                <a:ea typeface="Calibri" pitchFamily="34" charset="-122"/>
                <a:cs typeface="Calibri" pitchFamily="34" charset="-120"/>
              </a:rPr>
              <a:t>Adventure Works Cycles aims to broaden market share by targeting its best customers, extending product availability through an external website, and reducing cost of sales through lower production costs.</a:t>
            </a:r>
            <a:endParaRPr lang="en-US" sz="1300" dirty="0"/>
          </a:p>
        </p:txBody>
      </p:sp>
      <p:sp>
        <p:nvSpPr>
          <p:cNvPr id="6" name="Shape 4"/>
          <p:cNvSpPr/>
          <p:nvPr/>
        </p:nvSpPr>
        <p:spPr>
          <a:xfrm>
            <a:off x="7498080" y="1417320"/>
            <a:ext cx="4114800" cy="960120"/>
          </a:xfrm>
          <a:prstGeom prst="roundRect">
            <a:avLst>
              <a:gd name="adj" fmla="val 6667"/>
            </a:avLst>
          </a:prstGeom>
          <a:solidFill>
            <a:srgbClr val="142850"/>
          </a:solidFill>
          <a:ln/>
        </p:spPr>
      </p:sp>
      <p:sp>
        <p:nvSpPr>
          <p:cNvPr id="7" name="Shape 5"/>
          <p:cNvSpPr/>
          <p:nvPr/>
        </p:nvSpPr>
        <p:spPr>
          <a:xfrm>
            <a:off x="10835640" y="1641348"/>
            <a:ext cx="512064" cy="512064"/>
          </a:xfrm>
          <a:prstGeom prst="ellipse">
            <a:avLst/>
          </a:prstGeom>
          <a:solidFill>
            <a:srgbClr val="E8871E">
              <a:alpha val="75000"/>
            </a:srgbClr>
          </a:solidFill>
          <a:ln/>
        </p:spPr>
      </p:sp>
      <p:sp>
        <p:nvSpPr>
          <p:cNvPr id="8" name="Text 6"/>
          <p:cNvSpPr/>
          <p:nvPr/>
        </p:nvSpPr>
        <p:spPr>
          <a:xfrm>
            <a:off x="7772400" y="1508760"/>
            <a:ext cx="365760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29.36M</a:t>
            </a:r>
            <a:endParaRPr lang="en-US" sz="2600" dirty="0"/>
          </a:p>
        </p:txBody>
      </p:sp>
      <p:sp>
        <p:nvSpPr>
          <p:cNvPr id="9" name="Text 7"/>
          <p:cNvSpPr/>
          <p:nvPr/>
        </p:nvSpPr>
        <p:spPr>
          <a:xfrm>
            <a:off x="7772400" y="1993392"/>
            <a:ext cx="3657600" cy="274320"/>
          </a:xfrm>
          <a:prstGeom prst="rect">
            <a:avLst/>
          </a:prstGeom>
          <a:noFill/>
          <a:ln/>
        </p:spPr>
        <p:txBody>
          <a:bodyPr wrap="square" rtlCol="0" anchor="ctr"/>
          <a:lstStyle/>
          <a:p>
            <a:pPr marL="0" indent="0">
              <a:buNone/>
            </a:pPr>
            <a:r>
              <a:rPr lang="en-US" sz="1100" kern="0" spc="100" dirty="0">
                <a:solidFill>
                  <a:srgbClr val="DCEEF0"/>
                </a:solidFill>
                <a:latin typeface="Calibri" pitchFamily="34" charset="0"/>
                <a:ea typeface="Calibri" pitchFamily="34" charset="-122"/>
                <a:cs typeface="Calibri" pitchFamily="34" charset="-120"/>
              </a:rPr>
              <a:t>TOTAL SALES</a:t>
            </a:r>
            <a:endParaRPr lang="en-US" sz="1100" dirty="0"/>
          </a:p>
        </p:txBody>
      </p:sp>
      <p:sp>
        <p:nvSpPr>
          <p:cNvPr id="10" name="Shape 8"/>
          <p:cNvSpPr/>
          <p:nvPr/>
        </p:nvSpPr>
        <p:spPr>
          <a:xfrm>
            <a:off x="7498080" y="2560320"/>
            <a:ext cx="4114800" cy="960120"/>
          </a:xfrm>
          <a:prstGeom prst="roundRect">
            <a:avLst>
              <a:gd name="adj" fmla="val 6667"/>
            </a:avLst>
          </a:prstGeom>
          <a:solidFill>
            <a:srgbClr val="142850"/>
          </a:solidFill>
          <a:ln/>
        </p:spPr>
      </p:sp>
      <p:sp>
        <p:nvSpPr>
          <p:cNvPr id="11" name="Shape 9"/>
          <p:cNvSpPr/>
          <p:nvPr/>
        </p:nvSpPr>
        <p:spPr>
          <a:xfrm>
            <a:off x="10835640" y="2784348"/>
            <a:ext cx="512064" cy="512064"/>
          </a:xfrm>
          <a:prstGeom prst="ellipse">
            <a:avLst/>
          </a:prstGeom>
          <a:solidFill>
            <a:srgbClr val="0E7C86">
              <a:alpha val="75000"/>
            </a:srgbClr>
          </a:solidFill>
          <a:ln/>
        </p:spPr>
      </p:sp>
      <p:sp>
        <p:nvSpPr>
          <p:cNvPr id="12" name="Text 10"/>
          <p:cNvSpPr/>
          <p:nvPr/>
        </p:nvSpPr>
        <p:spPr>
          <a:xfrm>
            <a:off x="7772400" y="2651760"/>
            <a:ext cx="365760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12.08M</a:t>
            </a:r>
            <a:endParaRPr lang="en-US" sz="2600" dirty="0"/>
          </a:p>
        </p:txBody>
      </p:sp>
      <p:sp>
        <p:nvSpPr>
          <p:cNvPr id="13" name="Text 11"/>
          <p:cNvSpPr/>
          <p:nvPr/>
        </p:nvSpPr>
        <p:spPr>
          <a:xfrm>
            <a:off x="7772400" y="3136392"/>
            <a:ext cx="3657600" cy="274320"/>
          </a:xfrm>
          <a:prstGeom prst="rect">
            <a:avLst/>
          </a:prstGeom>
          <a:noFill/>
          <a:ln/>
        </p:spPr>
        <p:txBody>
          <a:bodyPr wrap="square" rtlCol="0" anchor="ctr"/>
          <a:lstStyle/>
          <a:p>
            <a:pPr marL="0" indent="0">
              <a:buNone/>
            </a:pPr>
            <a:r>
              <a:rPr lang="en-US" sz="1100" kern="0" spc="100" dirty="0">
                <a:solidFill>
                  <a:srgbClr val="DCEEF0"/>
                </a:solidFill>
                <a:latin typeface="Calibri" pitchFamily="34" charset="0"/>
                <a:ea typeface="Calibri" pitchFamily="34" charset="-122"/>
                <a:cs typeface="Calibri" pitchFamily="34" charset="-120"/>
              </a:rPr>
              <a:t>TOTAL PROFIT</a:t>
            </a:r>
            <a:endParaRPr lang="en-US" sz="1100" dirty="0"/>
          </a:p>
        </p:txBody>
      </p:sp>
      <p:sp>
        <p:nvSpPr>
          <p:cNvPr id="14" name="Shape 12"/>
          <p:cNvSpPr/>
          <p:nvPr/>
        </p:nvSpPr>
        <p:spPr>
          <a:xfrm>
            <a:off x="7498080" y="3703320"/>
            <a:ext cx="4114800" cy="960120"/>
          </a:xfrm>
          <a:prstGeom prst="roundRect">
            <a:avLst>
              <a:gd name="adj" fmla="val 6667"/>
            </a:avLst>
          </a:prstGeom>
          <a:solidFill>
            <a:srgbClr val="142850"/>
          </a:solidFill>
          <a:ln/>
        </p:spPr>
      </p:sp>
      <p:sp>
        <p:nvSpPr>
          <p:cNvPr id="15" name="Shape 13"/>
          <p:cNvSpPr/>
          <p:nvPr/>
        </p:nvSpPr>
        <p:spPr>
          <a:xfrm>
            <a:off x="10835640" y="3927348"/>
            <a:ext cx="512064" cy="512064"/>
          </a:xfrm>
          <a:prstGeom prst="ellipse">
            <a:avLst/>
          </a:prstGeom>
          <a:solidFill>
            <a:srgbClr val="E8871E">
              <a:alpha val="75000"/>
            </a:srgbClr>
          </a:solidFill>
          <a:ln/>
        </p:spPr>
      </p:sp>
      <p:sp>
        <p:nvSpPr>
          <p:cNvPr id="16" name="Text 14"/>
          <p:cNvSpPr/>
          <p:nvPr/>
        </p:nvSpPr>
        <p:spPr>
          <a:xfrm>
            <a:off x="7772400" y="3794760"/>
            <a:ext cx="365760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60.40K</a:t>
            </a:r>
            <a:endParaRPr lang="en-US" sz="2600" dirty="0"/>
          </a:p>
        </p:txBody>
      </p:sp>
      <p:sp>
        <p:nvSpPr>
          <p:cNvPr id="17" name="Text 15"/>
          <p:cNvSpPr/>
          <p:nvPr/>
        </p:nvSpPr>
        <p:spPr>
          <a:xfrm>
            <a:off x="7772400" y="4279392"/>
            <a:ext cx="3657600" cy="274320"/>
          </a:xfrm>
          <a:prstGeom prst="rect">
            <a:avLst/>
          </a:prstGeom>
          <a:noFill/>
          <a:ln/>
        </p:spPr>
        <p:txBody>
          <a:bodyPr wrap="square" rtlCol="0" anchor="ctr"/>
          <a:lstStyle/>
          <a:p>
            <a:pPr marL="0" indent="0">
              <a:buNone/>
            </a:pPr>
            <a:r>
              <a:rPr lang="en-US" sz="1100" kern="0" spc="100" dirty="0">
                <a:solidFill>
                  <a:srgbClr val="DCEEF0"/>
                </a:solidFill>
                <a:latin typeface="Calibri" pitchFamily="34" charset="0"/>
                <a:ea typeface="Calibri" pitchFamily="34" charset="-122"/>
                <a:cs typeface="Calibri" pitchFamily="34" charset="-120"/>
              </a:rPr>
              <a:t>TOTAL ORDERS</a:t>
            </a:r>
            <a:endParaRPr lang="en-US" sz="1100" dirty="0"/>
          </a:p>
        </p:txBody>
      </p:sp>
      <p:sp>
        <p:nvSpPr>
          <p:cNvPr id="18" name="Shape 16"/>
          <p:cNvSpPr/>
          <p:nvPr/>
        </p:nvSpPr>
        <p:spPr>
          <a:xfrm>
            <a:off x="7498080" y="4846320"/>
            <a:ext cx="4114800" cy="960120"/>
          </a:xfrm>
          <a:prstGeom prst="roundRect">
            <a:avLst>
              <a:gd name="adj" fmla="val 6667"/>
            </a:avLst>
          </a:prstGeom>
          <a:solidFill>
            <a:srgbClr val="142850"/>
          </a:solidFill>
          <a:ln/>
        </p:spPr>
      </p:sp>
      <p:sp>
        <p:nvSpPr>
          <p:cNvPr id="19" name="Shape 17"/>
          <p:cNvSpPr/>
          <p:nvPr/>
        </p:nvSpPr>
        <p:spPr>
          <a:xfrm>
            <a:off x="10835640" y="5070348"/>
            <a:ext cx="512064" cy="512064"/>
          </a:xfrm>
          <a:prstGeom prst="ellipse">
            <a:avLst/>
          </a:prstGeom>
          <a:solidFill>
            <a:srgbClr val="0E7C86">
              <a:alpha val="75000"/>
            </a:srgbClr>
          </a:solidFill>
          <a:ln/>
        </p:spPr>
      </p:sp>
      <p:sp>
        <p:nvSpPr>
          <p:cNvPr id="20" name="Text 18"/>
          <p:cNvSpPr/>
          <p:nvPr/>
        </p:nvSpPr>
        <p:spPr>
          <a:xfrm>
            <a:off x="7772400" y="4937760"/>
            <a:ext cx="365760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41.15%</a:t>
            </a:r>
            <a:endParaRPr lang="en-US" sz="2600" dirty="0"/>
          </a:p>
        </p:txBody>
      </p:sp>
      <p:sp>
        <p:nvSpPr>
          <p:cNvPr id="21" name="Text 19"/>
          <p:cNvSpPr/>
          <p:nvPr/>
        </p:nvSpPr>
        <p:spPr>
          <a:xfrm>
            <a:off x="7772400" y="5422392"/>
            <a:ext cx="3657600" cy="274320"/>
          </a:xfrm>
          <a:prstGeom prst="rect">
            <a:avLst/>
          </a:prstGeom>
          <a:noFill/>
          <a:ln/>
        </p:spPr>
        <p:txBody>
          <a:bodyPr wrap="square" rtlCol="0" anchor="ctr"/>
          <a:lstStyle/>
          <a:p>
            <a:pPr marL="0" indent="0">
              <a:buNone/>
            </a:pPr>
            <a:r>
              <a:rPr lang="en-US" sz="1100" kern="0" spc="100" dirty="0">
                <a:solidFill>
                  <a:srgbClr val="DCEEF0"/>
                </a:solidFill>
                <a:latin typeface="Calibri" pitchFamily="34" charset="0"/>
                <a:ea typeface="Calibri" pitchFamily="34" charset="-122"/>
                <a:cs typeface="Calibri" pitchFamily="34" charset="-120"/>
              </a:rPr>
              <a:t>PROFIT MARGIN</a:t>
            </a:r>
            <a:endParaRPr lang="en-US" sz="1100" dirty="0"/>
          </a:p>
        </p:txBody>
      </p:sp>
      <p:sp>
        <p:nvSpPr>
          <p:cNvPr id="22" name="Text 20"/>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23" name="Text 2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PROJECT ROADMAP</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Four phases, one end-to-end analytics workflow</a:t>
            </a:r>
            <a:endParaRPr lang="en-US" sz="1300" dirty="0"/>
          </a:p>
        </p:txBody>
      </p:sp>
      <p:sp>
        <p:nvSpPr>
          <p:cNvPr id="4" name="Shape 2"/>
          <p:cNvSpPr/>
          <p:nvPr/>
        </p:nvSpPr>
        <p:spPr>
          <a:xfrm>
            <a:off x="548640" y="1600200"/>
            <a:ext cx="2651760" cy="393192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2000"/>
              </a:srgbClr>
            </a:outerShdw>
          </a:effectLst>
        </p:spPr>
      </p:sp>
      <p:sp>
        <p:nvSpPr>
          <p:cNvPr id="5" name="Shape 3"/>
          <p:cNvSpPr/>
          <p:nvPr/>
        </p:nvSpPr>
        <p:spPr>
          <a:xfrm>
            <a:off x="1508760" y="1874520"/>
            <a:ext cx="731520" cy="731520"/>
          </a:xfrm>
          <a:prstGeom prst="ellipse">
            <a:avLst/>
          </a:prstGeom>
          <a:solidFill>
            <a:srgbClr val="0E7C86"/>
          </a:solidFill>
          <a:ln/>
        </p:spPr>
      </p:sp>
      <p:sp>
        <p:nvSpPr>
          <p:cNvPr id="6" name="Text 4"/>
          <p:cNvSpPr/>
          <p:nvPr/>
        </p:nvSpPr>
        <p:spPr>
          <a:xfrm>
            <a:off x="1508760" y="187452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731520" y="2788920"/>
            <a:ext cx="2286000" cy="457200"/>
          </a:xfrm>
          <a:prstGeom prst="rect">
            <a:avLst/>
          </a:prstGeom>
          <a:noFill/>
          <a:ln/>
        </p:spPr>
        <p:txBody>
          <a:bodyPr wrap="square" rtlCol="0" anchor="ctr"/>
          <a:lstStyle/>
          <a:p>
            <a:pPr marL="0" indent="0" algn="ctr">
              <a:buNone/>
            </a:pPr>
            <a:r>
              <a:rPr lang="en-US" sz="1600" b="1" dirty="0">
                <a:solidFill>
                  <a:srgbClr val="142850"/>
                </a:solidFill>
                <a:latin typeface="Cambria" pitchFamily="34" charset="0"/>
                <a:ea typeface="Cambria" pitchFamily="34" charset="-122"/>
                <a:cs typeface="Cambria" pitchFamily="34" charset="-120"/>
              </a:rPr>
              <a:t>Excel</a:t>
            </a:r>
            <a:endParaRPr lang="en-US" sz="1600" dirty="0"/>
          </a:p>
        </p:txBody>
      </p:sp>
      <p:sp>
        <p:nvSpPr>
          <p:cNvPr id="8" name="Text 6"/>
          <p:cNvSpPr/>
          <p:nvPr/>
        </p:nvSpPr>
        <p:spPr>
          <a:xfrm>
            <a:off x="777240" y="3291840"/>
            <a:ext cx="2194560" cy="2103120"/>
          </a:xfrm>
          <a:prstGeom prst="rect">
            <a:avLst/>
          </a:prstGeom>
          <a:noFill/>
          <a:ln/>
        </p:spPr>
        <p:txBody>
          <a:bodyPr wrap="square" rtlCol="0" anchor="ctr"/>
          <a:lstStyle/>
          <a:p>
            <a:pPr marL="0" indent="0" algn="ctr">
              <a:lnSpc>
                <a:spcPct val="120000"/>
              </a:lnSpc>
              <a:buNone/>
            </a:pPr>
            <a:r>
              <a:rPr lang="en-US" sz="1150" dirty="0">
                <a:solidFill>
                  <a:srgbClr val="6B7280"/>
                </a:solidFill>
                <a:latin typeface="Calibri" pitchFamily="34" charset="0"/>
                <a:ea typeface="Calibri" pitchFamily="34" charset="-122"/>
                <a:cs typeface="Calibri" pitchFamily="34" charset="-120"/>
              </a:rPr>
              <a:t>Data cleaning, XLOOKUP/VLOOKUP, date fields, Sales &amp; Production Cost formulas, Pivot Tables and charts.</a:t>
            </a:r>
            <a:endParaRPr lang="en-US" sz="1150" dirty="0"/>
          </a:p>
        </p:txBody>
      </p:sp>
      <p:sp>
        <p:nvSpPr>
          <p:cNvPr id="9" name="Shape 7"/>
          <p:cNvSpPr/>
          <p:nvPr/>
        </p:nvSpPr>
        <p:spPr>
          <a:xfrm rot="5400000">
            <a:off x="3227832" y="3483864"/>
            <a:ext cx="146304" cy="164592"/>
          </a:xfrm>
          <a:prstGeom prst="triangle">
            <a:avLst/>
          </a:prstGeom>
          <a:solidFill>
            <a:srgbClr val="C7D2DD"/>
          </a:solidFill>
          <a:ln/>
        </p:spPr>
      </p:sp>
      <p:sp>
        <p:nvSpPr>
          <p:cNvPr id="10" name="Shape 8"/>
          <p:cNvSpPr/>
          <p:nvPr/>
        </p:nvSpPr>
        <p:spPr>
          <a:xfrm>
            <a:off x="3401568" y="1600200"/>
            <a:ext cx="2651760" cy="393192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2000"/>
              </a:srgbClr>
            </a:outerShdw>
          </a:effectLst>
        </p:spPr>
      </p:sp>
      <p:sp>
        <p:nvSpPr>
          <p:cNvPr id="11" name="Shape 9"/>
          <p:cNvSpPr/>
          <p:nvPr/>
        </p:nvSpPr>
        <p:spPr>
          <a:xfrm>
            <a:off x="4361688" y="1874520"/>
            <a:ext cx="731520" cy="731520"/>
          </a:xfrm>
          <a:prstGeom prst="ellipse">
            <a:avLst/>
          </a:prstGeom>
          <a:solidFill>
            <a:srgbClr val="142850"/>
          </a:solidFill>
          <a:ln/>
        </p:spPr>
      </p:sp>
      <p:sp>
        <p:nvSpPr>
          <p:cNvPr id="12" name="Text 10"/>
          <p:cNvSpPr/>
          <p:nvPr/>
        </p:nvSpPr>
        <p:spPr>
          <a:xfrm>
            <a:off x="4361688" y="187452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02</a:t>
            </a:r>
            <a:endParaRPr lang="en-US" sz="2200" dirty="0"/>
          </a:p>
        </p:txBody>
      </p:sp>
      <p:sp>
        <p:nvSpPr>
          <p:cNvPr id="13" name="Text 11"/>
          <p:cNvSpPr/>
          <p:nvPr/>
        </p:nvSpPr>
        <p:spPr>
          <a:xfrm>
            <a:off x="3584448" y="2788920"/>
            <a:ext cx="2286000" cy="457200"/>
          </a:xfrm>
          <a:prstGeom prst="rect">
            <a:avLst/>
          </a:prstGeom>
          <a:noFill/>
          <a:ln/>
        </p:spPr>
        <p:txBody>
          <a:bodyPr wrap="square" rtlCol="0" anchor="ctr"/>
          <a:lstStyle/>
          <a:p>
            <a:pPr marL="0" indent="0" algn="ctr">
              <a:buNone/>
            </a:pPr>
            <a:r>
              <a:rPr lang="en-US" sz="1600" b="1" dirty="0">
                <a:solidFill>
                  <a:srgbClr val="142850"/>
                </a:solidFill>
                <a:latin typeface="Cambria" pitchFamily="34" charset="0"/>
                <a:ea typeface="Cambria" pitchFamily="34" charset="-122"/>
                <a:cs typeface="Cambria" pitchFamily="34" charset="-120"/>
              </a:rPr>
              <a:t>MySQL Workbench</a:t>
            </a:r>
            <a:endParaRPr lang="en-US" sz="1600" dirty="0"/>
          </a:p>
        </p:txBody>
      </p:sp>
      <p:sp>
        <p:nvSpPr>
          <p:cNvPr id="14" name="Text 12"/>
          <p:cNvSpPr/>
          <p:nvPr/>
        </p:nvSpPr>
        <p:spPr>
          <a:xfrm>
            <a:off x="3630168" y="3291840"/>
            <a:ext cx="2194560" cy="2103120"/>
          </a:xfrm>
          <a:prstGeom prst="rect">
            <a:avLst/>
          </a:prstGeom>
          <a:noFill/>
          <a:ln/>
        </p:spPr>
        <p:txBody>
          <a:bodyPr wrap="square" rtlCol="0" anchor="ctr"/>
          <a:lstStyle/>
          <a:p>
            <a:pPr marL="0" indent="0" algn="ctr">
              <a:lnSpc>
                <a:spcPct val="120000"/>
              </a:lnSpc>
              <a:buNone/>
            </a:pPr>
            <a:r>
              <a:rPr lang="en-US" sz="1150" dirty="0">
                <a:solidFill>
                  <a:srgbClr val="6B7280"/>
                </a:solidFill>
                <a:latin typeface="Calibri" pitchFamily="34" charset="0"/>
                <a:ea typeface="Calibri" pitchFamily="34" charset="-122"/>
                <a:cs typeface="Calibri" pitchFamily="34" charset="-120"/>
              </a:rPr>
              <a:t>Import Excel sheets, build tables with primary/foreign keys, joins, views and SQL queries.</a:t>
            </a:r>
            <a:endParaRPr lang="en-US" sz="1150" dirty="0"/>
          </a:p>
        </p:txBody>
      </p:sp>
      <p:sp>
        <p:nvSpPr>
          <p:cNvPr id="15" name="Shape 13"/>
          <p:cNvSpPr/>
          <p:nvPr/>
        </p:nvSpPr>
        <p:spPr>
          <a:xfrm rot="5400000">
            <a:off x="6080760" y="3483864"/>
            <a:ext cx="146304" cy="164592"/>
          </a:xfrm>
          <a:prstGeom prst="triangle">
            <a:avLst/>
          </a:prstGeom>
          <a:solidFill>
            <a:srgbClr val="C7D2DD"/>
          </a:solidFill>
          <a:ln/>
        </p:spPr>
      </p:sp>
      <p:sp>
        <p:nvSpPr>
          <p:cNvPr id="16" name="Shape 14"/>
          <p:cNvSpPr/>
          <p:nvPr/>
        </p:nvSpPr>
        <p:spPr>
          <a:xfrm>
            <a:off x="6254496" y="1600200"/>
            <a:ext cx="2651760" cy="393192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2000"/>
              </a:srgbClr>
            </a:outerShdw>
          </a:effectLst>
        </p:spPr>
      </p:sp>
      <p:sp>
        <p:nvSpPr>
          <p:cNvPr id="17" name="Shape 15"/>
          <p:cNvSpPr/>
          <p:nvPr/>
        </p:nvSpPr>
        <p:spPr>
          <a:xfrm>
            <a:off x="7214616" y="1874520"/>
            <a:ext cx="731520" cy="731520"/>
          </a:xfrm>
          <a:prstGeom prst="ellipse">
            <a:avLst/>
          </a:prstGeom>
          <a:solidFill>
            <a:srgbClr val="E8871E"/>
          </a:solidFill>
          <a:ln/>
        </p:spPr>
      </p:sp>
      <p:sp>
        <p:nvSpPr>
          <p:cNvPr id="18" name="Text 16"/>
          <p:cNvSpPr/>
          <p:nvPr/>
        </p:nvSpPr>
        <p:spPr>
          <a:xfrm>
            <a:off x="7214616" y="187452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03</a:t>
            </a:r>
            <a:endParaRPr lang="en-US" sz="2200" dirty="0"/>
          </a:p>
        </p:txBody>
      </p:sp>
      <p:sp>
        <p:nvSpPr>
          <p:cNvPr id="19" name="Text 17"/>
          <p:cNvSpPr/>
          <p:nvPr/>
        </p:nvSpPr>
        <p:spPr>
          <a:xfrm>
            <a:off x="6437376" y="2788920"/>
            <a:ext cx="2286000" cy="457200"/>
          </a:xfrm>
          <a:prstGeom prst="rect">
            <a:avLst/>
          </a:prstGeom>
          <a:noFill/>
          <a:ln/>
        </p:spPr>
        <p:txBody>
          <a:bodyPr wrap="square" rtlCol="0" anchor="ctr"/>
          <a:lstStyle/>
          <a:p>
            <a:pPr marL="0" indent="0" algn="ctr">
              <a:buNone/>
            </a:pPr>
            <a:r>
              <a:rPr lang="en-US" sz="1600" b="1" dirty="0">
                <a:solidFill>
                  <a:srgbClr val="142850"/>
                </a:solidFill>
                <a:latin typeface="Cambria" pitchFamily="34" charset="0"/>
                <a:ea typeface="Cambria" pitchFamily="34" charset="-122"/>
                <a:cs typeface="Cambria" pitchFamily="34" charset="-120"/>
              </a:rPr>
              <a:t>Tableau</a:t>
            </a:r>
            <a:endParaRPr lang="en-US" sz="1600" dirty="0"/>
          </a:p>
        </p:txBody>
      </p:sp>
      <p:sp>
        <p:nvSpPr>
          <p:cNvPr id="20" name="Text 18"/>
          <p:cNvSpPr/>
          <p:nvPr/>
        </p:nvSpPr>
        <p:spPr>
          <a:xfrm>
            <a:off x="6483096" y="3291840"/>
            <a:ext cx="2194560" cy="2103120"/>
          </a:xfrm>
          <a:prstGeom prst="rect">
            <a:avLst/>
          </a:prstGeom>
          <a:noFill/>
          <a:ln/>
        </p:spPr>
        <p:txBody>
          <a:bodyPr wrap="square" rtlCol="0" anchor="ctr"/>
          <a:lstStyle/>
          <a:p>
            <a:pPr marL="0" indent="0" algn="ctr">
              <a:lnSpc>
                <a:spcPct val="120000"/>
              </a:lnSpc>
              <a:buNone/>
            </a:pPr>
            <a:r>
              <a:rPr lang="en-US" sz="1150" dirty="0">
                <a:solidFill>
                  <a:srgbClr val="6B7280"/>
                </a:solidFill>
                <a:latin typeface="Calibri" pitchFamily="34" charset="0"/>
                <a:ea typeface="Calibri" pitchFamily="34" charset="-122"/>
                <a:cs typeface="Calibri" pitchFamily="34" charset="-120"/>
              </a:rPr>
              <a:t>Data relationships, calculated fields, KPI cards, filters and an interactive dashboard.</a:t>
            </a:r>
            <a:endParaRPr lang="en-US" sz="1150" dirty="0"/>
          </a:p>
        </p:txBody>
      </p:sp>
      <p:sp>
        <p:nvSpPr>
          <p:cNvPr id="21" name="Shape 19"/>
          <p:cNvSpPr/>
          <p:nvPr/>
        </p:nvSpPr>
        <p:spPr>
          <a:xfrm rot="5400000">
            <a:off x="8933688" y="3483864"/>
            <a:ext cx="146304" cy="164592"/>
          </a:xfrm>
          <a:prstGeom prst="triangle">
            <a:avLst/>
          </a:prstGeom>
          <a:solidFill>
            <a:srgbClr val="C7D2DD"/>
          </a:solidFill>
          <a:ln/>
        </p:spPr>
      </p:sp>
      <p:sp>
        <p:nvSpPr>
          <p:cNvPr id="22" name="Shape 20"/>
          <p:cNvSpPr/>
          <p:nvPr/>
        </p:nvSpPr>
        <p:spPr>
          <a:xfrm>
            <a:off x="9107424" y="1600200"/>
            <a:ext cx="2651760" cy="393192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2000"/>
              </a:srgbClr>
            </a:outerShdw>
          </a:effectLst>
        </p:spPr>
      </p:sp>
      <p:sp>
        <p:nvSpPr>
          <p:cNvPr id="23" name="Shape 21"/>
          <p:cNvSpPr/>
          <p:nvPr/>
        </p:nvSpPr>
        <p:spPr>
          <a:xfrm>
            <a:off x="10067544" y="1874520"/>
            <a:ext cx="731520" cy="731520"/>
          </a:xfrm>
          <a:prstGeom prst="ellipse">
            <a:avLst/>
          </a:prstGeom>
          <a:solidFill>
            <a:srgbClr val="0E7C86"/>
          </a:solidFill>
          <a:ln/>
        </p:spPr>
      </p:sp>
      <p:sp>
        <p:nvSpPr>
          <p:cNvPr id="24" name="Text 22"/>
          <p:cNvSpPr/>
          <p:nvPr/>
        </p:nvSpPr>
        <p:spPr>
          <a:xfrm>
            <a:off x="10067544" y="187452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04</a:t>
            </a:r>
            <a:endParaRPr lang="en-US" sz="2200" dirty="0"/>
          </a:p>
        </p:txBody>
      </p:sp>
      <p:sp>
        <p:nvSpPr>
          <p:cNvPr id="25" name="Text 23"/>
          <p:cNvSpPr/>
          <p:nvPr/>
        </p:nvSpPr>
        <p:spPr>
          <a:xfrm>
            <a:off x="9290304" y="2788920"/>
            <a:ext cx="2286000" cy="457200"/>
          </a:xfrm>
          <a:prstGeom prst="rect">
            <a:avLst/>
          </a:prstGeom>
          <a:noFill/>
          <a:ln/>
        </p:spPr>
        <p:txBody>
          <a:bodyPr wrap="square" rtlCol="0" anchor="ctr"/>
          <a:lstStyle/>
          <a:p>
            <a:pPr marL="0" indent="0" algn="ctr">
              <a:buNone/>
            </a:pPr>
            <a:r>
              <a:rPr lang="en-US" sz="1600" b="1" dirty="0">
                <a:solidFill>
                  <a:srgbClr val="142850"/>
                </a:solidFill>
                <a:latin typeface="Cambria" pitchFamily="34" charset="0"/>
                <a:ea typeface="Cambria" pitchFamily="34" charset="-122"/>
                <a:cs typeface="Cambria" pitchFamily="34" charset="-120"/>
              </a:rPr>
              <a:t>Power BI</a:t>
            </a:r>
            <a:endParaRPr lang="en-US" sz="1600" dirty="0"/>
          </a:p>
        </p:txBody>
      </p:sp>
      <p:sp>
        <p:nvSpPr>
          <p:cNvPr id="26" name="Text 24"/>
          <p:cNvSpPr/>
          <p:nvPr/>
        </p:nvSpPr>
        <p:spPr>
          <a:xfrm>
            <a:off x="9336024" y="3291840"/>
            <a:ext cx="2194560" cy="2103120"/>
          </a:xfrm>
          <a:prstGeom prst="rect">
            <a:avLst/>
          </a:prstGeom>
          <a:noFill/>
          <a:ln/>
        </p:spPr>
        <p:txBody>
          <a:bodyPr wrap="square" rtlCol="0" anchor="ctr"/>
          <a:lstStyle/>
          <a:p>
            <a:pPr marL="0" indent="0" algn="ctr">
              <a:lnSpc>
                <a:spcPct val="120000"/>
              </a:lnSpc>
              <a:buNone/>
            </a:pPr>
            <a:r>
              <a:rPr lang="en-US" sz="1150" dirty="0">
                <a:solidFill>
                  <a:srgbClr val="6B7280"/>
                </a:solidFill>
                <a:latin typeface="Calibri" pitchFamily="34" charset="0"/>
                <a:ea typeface="Calibri" pitchFamily="34" charset="-122"/>
                <a:cs typeface="Calibri" pitchFamily="34" charset="-120"/>
              </a:rPr>
              <a:t>Power Query transformations, star-schema data model, DAX measures and interactive reports.</a:t>
            </a:r>
            <a:endParaRPr lang="en-US" sz="1150" dirty="0"/>
          </a:p>
        </p:txBody>
      </p:sp>
      <p:sp>
        <p:nvSpPr>
          <p:cNvPr id="27" name="Text 25"/>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28" name="Text 26"/>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DATASET OVERVIEW</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Fact and dimension tables that make up the data model</a:t>
            </a:r>
            <a:endParaRPr lang="en-US" sz="1300" dirty="0"/>
          </a:p>
        </p:txBody>
      </p:sp>
      <p:sp>
        <p:nvSpPr>
          <p:cNvPr id="4" name="Shape 2"/>
          <p:cNvSpPr/>
          <p:nvPr/>
        </p:nvSpPr>
        <p:spPr>
          <a:xfrm>
            <a:off x="548640" y="1463040"/>
            <a:ext cx="6492240" cy="530352"/>
          </a:xfrm>
          <a:prstGeom prst="roundRect">
            <a:avLst>
              <a:gd name="adj" fmla="val 8621"/>
            </a:avLst>
          </a:prstGeom>
          <a:solidFill>
            <a:srgbClr val="142850"/>
          </a:solidFill>
          <a:ln/>
        </p:spPr>
      </p:sp>
      <p:sp>
        <p:nvSpPr>
          <p:cNvPr id="5" name="Text 3"/>
          <p:cNvSpPr/>
          <p:nvPr/>
        </p:nvSpPr>
        <p:spPr>
          <a:xfrm>
            <a:off x="777240" y="1463040"/>
            <a:ext cx="2926080" cy="530352"/>
          </a:xfrm>
          <a:prstGeom prst="rect">
            <a:avLst/>
          </a:prstGeom>
          <a:noFill/>
          <a:ln/>
        </p:spPr>
        <p:txBody>
          <a:bodyPr wrap="square" rtlCol="0" anchor="ctr"/>
          <a:lstStyle/>
          <a:p>
            <a:pPr marL="0" indent="0">
              <a:buNone/>
            </a:pPr>
            <a:r>
              <a:rPr lang="en-US" sz="1200" b="1" kern="0" spc="100" dirty="0">
                <a:solidFill>
                  <a:srgbClr val="FFFFFF"/>
                </a:solidFill>
                <a:latin typeface="Calibri" pitchFamily="34" charset="0"/>
                <a:ea typeface="Calibri" pitchFamily="34" charset="-122"/>
                <a:cs typeface="Calibri" pitchFamily="34" charset="-120"/>
              </a:rPr>
              <a:t>TABLE</a:t>
            </a:r>
            <a:endParaRPr lang="en-US" sz="1200" dirty="0"/>
          </a:p>
        </p:txBody>
      </p:sp>
      <p:sp>
        <p:nvSpPr>
          <p:cNvPr id="6" name="Text 4"/>
          <p:cNvSpPr/>
          <p:nvPr/>
        </p:nvSpPr>
        <p:spPr>
          <a:xfrm>
            <a:off x="3657600" y="1463040"/>
            <a:ext cx="3200400" cy="530352"/>
          </a:xfrm>
          <a:prstGeom prst="rect">
            <a:avLst/>
          </a:prstGeom>
          <a:noFill/>
          <a:ln/>
        </p:spPr>
        <p:txBody>
          <a:bodyPr wrap="square" rtlCol="0" anchor="ctr"/>
          <a:lstStyle/>
          <a:p>
            <a:pPr marL="0" indent="0">
              <a:buNone/>
            </a:pPr>
            <a:r>
              <a:rPr lang="en-US" sz="1200" b="1" kern="0" spc="100" dirty="0">
                <a:solidFill>
                  <a:srgbClr val="FFFFFF"/>
                </a:solidFill>
                <a:latin typeface="Calibri" pitchFamily="34" charset="0"/>
                <a:ea typeface="Calibri" pitchFamily="34" charset="-122"/>
                <a:cs typeface="Calibri" pitchFamily="34" charset="-120"/>
              </a:rPr>
              <a:t>PURPOSE</a:t>
            </a:r>
            <a:endParaRPr lang="en-US" sz="1200" dirty="0"/>
          </a:p>
        </p:txBody>
      </p:sp>
      <p:sp>
        <p:nvSpPr>
          <p:cNvPr id="7" name="Shape 5"/>
          <p:cNvSpPr/>
          <p:nvPr/>
        </p:nvSpPr>
        <p:spPr>
          <a:xfrm>
            <a:off x="548640" y="1993392"/>
            <a:ext cx="6492240" cy="530352"/>
          </a:xfrm>
          <a:prstGeom prst="rect">
            <a:avLst/>
          </a:prstGeom>
          <a:solidFill>
            <a:srgbClr val="F5F7FA"/>
          </a:solidFill>
          <a:ln/>
        </p:spPr>
      </p:sp>
      <p:sp>
        <p:nvSpPr>
          <p:cNvPr id="8" name="Text 6"/>
          <p:cNvSpPr/>
          <p:nvPr/>
        </p:nvSpPr>
        <p:spPr>
          <a:xfrm>
            <a:off x="777240" y="1993392"/>
            <a:ext cx="2926080" cy="530352"/>
          </a:xfrm>
          <a:prstGeom prst="rect">
            <a:avLst/>
          </a:prstGeom>
          <a:noFill/>
          <a:ln/>
        </p:spPr>
        <p:txBody>
          <a:bodyPr wrap="square" rtlCol="0" anchor="ctr"/>
          <a:lstStyle/>
          <a:p>
            <a:pPr marL="0" indent="0">
              <a:buNone/>
            </a:pPr>
            <a:r>
              <a:rPr lang="en-US" sz="1250" b="1" dirty="0">
                <a:solidFill>
                  <a:srgbClr val="0E7C86"/>
                </a:solidFill>
                <a:latin typeface="Calibri" pitchFamily="34" charset="0"/>
                <a:ea typeface="Calibri" pitchFamily="34" charset="-122"/>
                <a:cs typeface="Calibri" pitchFamily="34" charset="-120"/>
              </a:rPr>
              <a:t>FactInternetSales</a:t>
            </a:r>
            <a:endParaRPr lang="en-US" sz="1250" dirty="0"/>
          </a:p>
        </p:txBody>
      </p:sp>
      <p:sp>
        <p:nvSpPr>
          <p:cNvPr id="9" name="Text 7"/>
          <p:cNvSpPr/>
          <p:nvPr/>
        </p:nvSpPr>
        <p:spPr>
          <a:xfrm>
            <a:off x="3657600" y="1993392"/>
            <a:ext cx="3200400" cy="53035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Main sales transactions</a:t>
            </a:r>
            <a:endParaRPr lang="en-US" sz="1200" dirty="0"/>
          </a:p>
        </p:txBody>
      </p:sp>
      <p:sp>
        <p:nvSpPr>
          <p:cNvPr id="10" name="Shape 8"/>
          <p:cNvSpPr/>
          <p:nvPr/>
        </p:nvSpPr>
        <p:spPr>
          <a:xfrm>
            <a:off x="548640" y="2523744"/>
            <a:ext cx="6492240" cy="530352"/>
          </a:xfrm>
          <a:prstGeom prst="rect">
            <a:avLst/>
          </a:prstGeom>
          <a:solidFill>
            <a:srgbClr val="FFFFFF"/>
          </a:solidFill>
          <a:ln/>
        </p:spPr>
      </p:sp>
      <p:sp>
        <p:nvSpPr>
          <p:cNvPr id="11" name="Text 9"/>
          <p:cNvSpPr/>
          <p:nvPr/>
        </p:nvSpPr>
        <p:spPr>
          <a:xfrm>
            <a:off x="777240" y="2523744"/>
            <a:ext cx="2926080" cy="530352"/>
          </a:xfrm>
          <a:prstGeom prst="rect">
            <a:avLst/>
          </a:prstGeom>
          <a:noFill/>
          <a:ln/>
        </p:spPr>
        <p:txBody>
          <a:bodyPr wrap="square" rtlCol="0" anchor="ctr"/>
          <a:lstStyle/>
          <a:p>
            <a:pPr marL="0" indent="0">
              <a:buNone/>
            </a:pPr>
            <a:r>
              <a:rPr lang="en-US" sz="1250" b="1" dirty="0">
                <a:solidFill>
                  <a:srgbClr val="0E7C86"/>
                </a:solidFill>
                <a:latin typeface="Calibri" pitchFamily="34" charset="0"/>
                <a:ea typeface="Calibri" pitchFamily="34" charset="-122"/>
                <a:cs typeface="Calibri" pitchFamily="34" charset="-120"/>
              </a:rPr>
              <a:t>Fact_Internet_Sales_New</a:t>
            </a:r>
            <a:endParaRPr lang="en-US" sz="1250" dirty="0"/>
          </a:p>
        </p:txBody>
      </p:sp>
      <p:sp>
        <p:nvSpPr>
          <p:cNvPr id="12" name="Text 10"/>
          <p:cNvSpPr/>
          <p:nvPr/>
        </p:nvSpPr>
        <p:spPr>
          <a:xfrm>
            <a:off x="3657600" y="2523744"/>
            <a:ext cx="3200400" cy="53035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Additional sales transactions (unioned)</a:t>
            </a:r>
            <a:endParaRPr lang="en-US" sz="1200" dirty="0"/>
          </a:p>
        </p:txBody>
      </p:sp>
      <p:sp>
        <p:nvSpPr>
          <p:cNvPr id="13" name="Shape 11"/>
          <p:cNvSpPr/>
          <p:nvPr/>
        </p:nvSpPr>
        <p:spPr>
          <a:xfrm>
            <a:off x="548640" y="3054096"/>
            <a:ext cx="6492240" cy="530352"/>
          </a:xfrm>
          <a:prstGeom prst="rect">
            <a:avLst/>
          </a:prstGeom>
          <a:solidFill>
            <a:srgbClr val="F5F7FA"/>
          </a:solidFill>
          <a:ln/>
        </p:spPr>
      </p:sp>
      <p:sp>
        <p:nvSpPr>
          <p:cNvPr id="14" name="Text 12"/>
          <p:cNvSpPr/>
          <p:nvPr/>
        </p:nvSpPr>
        <p:spPr>
          <a:xfrm>
            <a:off x="777240" y="3054096"/>
            <a:ext cx="2926080" cy="530352"/>
          </a:xfrm>
          <a:prstGeom prst="rect">
            <a:avLst/>
          </a:prstGeom>
          <a:noFill/>
          <a:ln/>
        </p:spPr>
        <p:txBody>
          <a:bodyPr wrap="square" rtlCol="0" anchor="ctr"/>
          <a:lstStyle/>
          <a:p>
            <a:pPr marL="0" indent="0">
              <a:buNone/>
            </a:pPr>
            <a:r>
              <a:rPr lang="en-US" sz="1250" b="1" dirty="0">
                <a:solidFill>
                  <a:srgbClr val="0E7C86"/>
                </a:solidFill>
                <a:latin typeface="Calibri" pitchFamily="34" charset="0"/>
                <a:ea typeface="Calibri" pitchFamily="34" charset="-122"/>
                <a:cs typeface="Calibri" pitchFamily="34" charset="-120"/>
              </a:rPr>
              <a:t>DimCustomer</a:t>
            </a:r>
            <a:endParaRPr lang="en-US" sz="1250" dirty="0"/>
          </a:p>
        </p:txBody>
      </p:sp>
      <p:sp>
        <p:nvSpPr>
          <p:cNvPr id="15" name="Text 13"/>
          <p:cNvSpPr/>
          <p:nvPr/>
        </p:nvSpPr>
        <p:spPr>
          <a:xfrm>
            <a:off x="3657600" y="3054096"/>
            <a:ext cx="3200400" cy="53035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Customer details</a:t>
            </a:r>
            <a:endParaRPr lang="en-US" sz="1200" dirty="0"/>
          </a:p>
        </p:txBody>
      </p:sp>
      <p:sp>
        <p:nvSpPr>
          <p:cNvPr id="16" name="Shape 14"/>
          <p:cNvSpPr/>
          <p:nvPr/>
        </p:nvSpPr>
        <p:spPr>
          <a:xfrm>
            <a:off x="548640" y="3584448"/>
            <a:ext cx="6492240" cy="530352"/>
          </a:xfrm>
          <a:prstGeom prst="rect">
            <a:avLst/>
          </a:prstGeom>
          <a:solidFill>
            <a:srgbClr val="FFFFFF"/>
          </a:solidFill>
          <a:ln/>
        </p:spPr>
      </p:sp>
      <p:sp>
        <p:nvSpPr>
          <p:cNvPr id="17" name="Text 15"/>
          <p:cNvSpPr/>
          <p:nvPr/>
        </p:nvSpPr>
        <p:spPr>
          <a:xfrm>
            <a:off x="777240" y="3584448"/>
            <a:ext cx="2926080" cy="530352"/>
          </a:xfrm>
          <a:prstGeom prst="rect">
            <a:avLst/>
          </a:prstGeom>
          <a:noFill/>
          <a:ln/>
        </p:spPr>
        <p:txBody>
          <a:bodyPr wrap="square" rtlCol="0" anchor="ctr"/>
          <a:lstStyle/>
          <a:p>
            <a:pPr marL="0" indent="0">
              <a:buNone/>
            </a:pPr>
            <a:r>
              <a:rPr lang="en-US" sz="1250" b="1" dirty="0">
                <a:solidFill>
                  <a:srgbClr val="0E7C86"/>
                </a:solidFill>
                <a:latin typeface="Calibri" pitchFamily="34" charset="0"/>
                <a:ea typeface="Calibri" pitchFamily="34" charset="-122"/>
                <a:cs typeface="Calibri" pitchFamily="34" charset="-120"/>
              </a:rPr>
              <a:t>DimProduct</a:t>
            </a:r>
            <a:endParaRPr lang="en-US" sz="1250" dirty="0"/>
          </a:p>
        </p:txBody>
      </p:sp>
      <p:sp>
        <p:nvSpPr>
          <p:cNvPr id="18" name="Text 16"/>
          <p:cNvSpPr/>
          <p:nvPr/>
        </p:nvSpPr>
        <p:spPr>
          <a:xfrm>
            <a:off x="3657600" y="3584448"/>
            <a:ext cx="3200400" cy="53035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Product details</a:t>
            </a:r>
            <a:endParaRPr lang="en-US" sz="1200" dirty="0"/>
          </a:p>
        </p:txBody>
      </p:sp>
      <p:sp>
        <p:nvSpPr>
          <p:cNvPr id="19" name="Shape 17"/>
          <p:cNvSpPr/>
          <p:nvPr/>
        </p:nvSpPr>
        <p:spPr>
          <a:xfrm>
            <a:off x="548640" y="4114800"/>
            <a:ext cx="6492240" cy="530352"/>
          </a:xfrm>
          <a:prstGeom prst="rect">
            <a:avLst/>
          </a:prstGeom>
          <a:solidFill>
            <a:srgbClr val="F5F7FA"/>
          </a:solidFill>
          <a:ln/>
        </p:spPr>
      </p:sp>
      <p:sp>
        <p:nvSpPr>
          <p:cNvPr id="20" name="Text 18"/>
          <p:cNvSpPr/>
          <p:nvPr/>
        </p:nvSpPr>
        <p:spPr>
          <a:xfrm>
            <a:off x="777240" y="4114800"/>
            <a:ext cx="2926080" cy="530352"/>
          </a:xfrm>
          <a:prstGeom prst="rect">
            <a:avLst/>
          </a:prstGeom>
          <a:noFill/>
          <a:ln/>
        </p:spPr>
        <p:txBody>
          <a:bodyPr wrap="square" rtlCol="0" anchor="ctr"/>
          <a:lstStyle/>
          <a:p>
            <a:pPr marL="0" indent="0">
              <a:buNone/>
            </a:pPr>
            <a:r>
              <a:rPr lang="en-US" sz="1250" b="1" dirty="0">
                <a:solidFill>
                  <a:srgbClr val="0E7C86"/>
                </a:solidFill>
                <a:latin typeface="Calibri" pitchFamily="34" charset="0"/>
                <a:ea typeface="Calibri" pitchFamily="34" charset="-122"/>
                <a:cs typeface="Calibri" pitchFamily="34" charset="-120"/>
              </a:rPr>
              <a:t>DimDate</a:t>
            </a:r>
            <a:endParaRPr lang="en-US" sz="1250" dirty="0"/>
          </a:p>
        </p:txBody>
      </p:sp>
      <p:sp>
        <p:nvSpPr>
          <p:cNvPr id="21" name="Text 19"/>
          <p:cNvSpPr/>
          <p:nvPr/>
        </p:nvSpPr>
        <p:spPr>
          <a:xfrm>
            <a:off x="3657600" y="4114800"/>
            <a:ext cx="3200400" cy="53035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Date table</a:t>
            </a:r>
            <a:endParaRPr lang="en-US" sz="1200" dirty="0"/>
          </a:p>
        </p:txBody>
      </p:sp>
      <p:sp>
        <p:nvSpPr>
          <p:cNvPr id="22" name="Shape 20"/>
          <p:cNvSpPr/>
          <p:nvPr/>
        </p:nvSpPr>
        <p:spPr>
          <a:xfrm>
            <a:off x="548640" y="4645152"/>
            <a:ext cx="6492240" cy="530352"/>
          </a:xfrm>
          <a:prstGeom prst="rect">
            <a:avLst/>
          </a:prstGeom>
          <a:solidFill>
            <a:srgbClr val="FFFFFF"/>
          </a:solidFill>
          <a:ln/>
        </p:spPr>
      </p:sp>
      <p:sp>
        <p:nvSpPr>
          <p:cNvPr id="23" name="Text 21"/>
          <p:cNvSpPr/>
          <p:nvPr/>
        </p:nvSpPr>
        <p:spPr>
          <a:xfrm>
            <a:off x="777240" y="4645152"/>
            <a:ext cx="2926080" cy="530352"/>
          </a:xfrm>
          <a:prstGeom prst="rect">
            <a:avLst/>
          </a:prstGeom>
          <a:noFill/>
          <a:ln/>
        </p:spPr>
        <p:txBody>
          <a:bodyPr wrap="square" rtlCol="0" anchor="ctr"/>
          <a:lstStyle/>
          <a:p>
            <a:pPr marL="0" indent="0">
              <a:buNone/>
            </a:pPr>
            <a:r>
              <a:rPr lang="en-US" sz="1250" b="1" dirty="0">
                <a:solidFill>
                  <a:srgbClr val="0E7C86"/>
                </a:solidFill>
                <a:latin typeface="Calibri" pitchFamily="34" charset="0"/>
                <a:ea typeface="Calibri" pitchFamily="34" charset="-122"/>
                <a:cs typeface="Calibri" pitchFamily="34" charset="-120"/>
              </a:rPr>
              <a:t>DimSalesTerritory</a:t>
            </a:r>
            <a:endParaRPr lang="en-US" sz="1250" dirty="0"/>
          </a:p>
        </p:txBody>
      </p:sp>
      <p:sp>
        <p:nvSpPr>
          <p:cNvPr id="24" name="Text 22"/>
          <p:cNvSpPr/>
          <p:nvPr/>
        </p:nvSpPr>
        <p:spPr>
          <a:xfrm>
            <a:off x="3657600" y="4645152"/>
            <a:ext cx="3200400" cy="53035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Regional / territory details</a:t>
            </a:r>
            <a:endParaRPr lang="en-US" sz="1200" dirty="0"/>
          </a:p>
        </p:txBody>
      </p:sp>
      <p:sp>
        <p:nvSpPr>
          <p:cNvPr id="25" name="Shape 23"/>
          <p:cNvSpPr/>
          <p:nvPr/>
        </p:nvSpPr>
        <p:spPr>
          <a:xfrm>
            <a:off x="548640" y="5175504"/>
            <a:ext cx="6492240" cy="530352"/>
          </a:xfrm>
          <a:prstGeom prst="rect">
            <a:avLst/>
          </a:prstGeom>
          <a:solidFill>
            <a:srgbClr val="F5F7FA"/>
          </a:solidFill>
          <a:ln/>
        </p:spPr>
      </p:sp>
      <p:sp>
        <p:nvSpPr>
          <p:cNvPr id="26" name="Text 24"/>
          <p:cNvSpPr/>
          <p:nvPr/>
        </p:nvSpPr>
        <p:spPr>
          <a:xfrm>
            <a:off x="777240" y="5175504"/>
            <a:ext cx="2926080" cy="530352"/>
          </a:xfrm>
          <a:prstGeom prst="rect">
            <a:avLst/>
          </a:prstGeom>
          <a:noFill/>
          <a:ln/>
        </p:spPr>
        <p:txBody>
          <a:bodyPr wrap="square" rtlCol="0" anchor="ctr"/>
          <a:lstStyle/>
          <a:p>
            <a:pPr marL="0" indent="0">
              <a:buNone/>
            </a:pPr>
            <a:r>
              <a:rPr lang="en-US" sz="1250" b="1" dirty="0">
                <a:solidFill>
                  <a:srgbClr val="0E7C86"/>
                </a:solidFill>
                <a:latin typeface="Calibri" pitchFamily="34" charset="0"/>
                <a:ea typeface="Calibri" pitchFamily="34" charset="-122"/>
                <a:cs typeface="Calibri" pitchFamily="34" charset="-120"/>
              </a:rPr>
              <a:t>DimProductCategory</a:t>
            </a:r>
            <a:endParaRPr lang="en-US" sz="1250" dirty="0"/>
          </a:p>
        </p:txBody>
      </p:sp>
      <p:sp>
        <p:nvSpPr>
          <p:cNvPr id="27" name="Text 25"/>
          <p:cNvSpPr/>
          <p:nvPr/>
        </p:nvSpPr>
        <p:spPr>
          <a:xfrm>
            <a:off x="3657600" y="5175504"/>
            <a:ext cx="3200400" cy="53035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Product category</a:t>
            </a:r>
            <a:endParaRPr lang="en-US" sz="1200" dirty="0"/>
          </a:p>
        </p:txBody>
      </p:sp>
      <p:sp>
        <p:nvSpPr>
          <p:cNvPr id="28" name="Shape 26"/>
          <p:cNvSpPr/>
          <p:nvPr/>
        </p:nvSpPr>
        <p:spPr>
          <a:xfrm>
            <a:off x="548640" y="5705856"/>
            <a:ext cx="6492240" cy="530352"/>
          </a:xfrm>
          <a:prstGeom prst="rect">
            <a:avLst/>
          </a:prstGeom>
          <a:solidFill>
            <a:srgbClr val="FFFFFF"/>
          </a:solidFill>
          <a:ln/>
        </p:spPr>
      </p:sp>
      <p:sp>
        <p:nvSpPr>
          <p:cNvPr id="29" name="Text 27"/>
          <p:cNvSpPr/>
          <p:nvPr/>
        </p:nvSpPr>
        <p:spPr>
          <a:xfrm>
            <a:off x="777240" y="5705856"/>
            <a:ext cx="2926080" cy="530352"/>
          </a:xfrm>
          <a:prstGeom prst="rect">
            <a:avLst/>
          </a:prstGeom>
          <a:noFill/>
          <a:ln/>
        </p:spPr>
        <p:txBody>
          <a:bodyPr wrap="square" rtlCol="0" anchor="ctr"/>
          <a:lstStyle/>
          <a:p>
            <a:pPr marL="0" indent="0">
              <a:buNone/>
            </a:pPr>
            <a:r>
              <a:rPr lang="en-US" sz="1250" b="1" dirty="0">
                <a:solidFill>
                  <a:srgbClr val="0E7C86"/>
                </a:solidFill>
                <a:latin typeface="Calibri" pitchFamily="34" charset="0"/>
                <a:ea typeface="Calibri" pitchFamily="34" charset="-122"/>
                <a:cs typeface="Calibri" pitchFamily="34" charset="-120"/>
              </a:rPr>
              <a:t>DimProductSubCategory</a:t>
            </a:r>
            <a:endParaRPr lang="en-US" sz="1250" dirty="0"/>
          </a:p>
        </p:txBody>
      </p:sp>
      <p:sp>
        <p:nvSpPr>
          <p:cNvPr id="30" name="Text 28"/>
          <p:cNvSpPr/>
          <p:nvPr/>
        </p:nvSpPr>
        <p:spPr>
          <a:xfrm>
            <a:off x="3657600" y="5705856"/>
            <a:ext cx="3200400" cy="53035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Product sub-category</a:t>
            </a:r>
            <a:endParaRPr lang="en-US" sz="1200" dirty="0"/>
          </a:p>
        </p:txBody>
      </p:sp>
      <p:sp>
        <p:nvSpPr>
          <p:cNvPr id="31" name="Shape 29"/>
          <p:cNvSpPr/>
          <p:nvPr/>
        </p:nvSpPr>
        <p:spPr>
          <a:xfrm>
            <a:off x="7315200" y="1463040"/>
            <a:ext cx="4297680" cy="4773168"/>
          </a:xfrm>
          <a:prstGeom prst="roundRect">
            <a:avLst>
              <a:gd name="adj" fmla="val 1489"/>
            </a:avLst>
          </a:prstGeom>
          <a:solidFill>
            <a:srgbClr val="142850"/>
          </a:solidFill>
          <a:ln/>
        </p:spPr>
      </p:sp>
      <p:sp>
        <p:nvSpPr>
          <p:cNvPr id="32" name="Text 30"/>
          <p:cNvSpPr/>
          <p:nvPr/>
        </p:nvSpPr>
        <p:spPr>
          <a:xfrm>
            <a:off x="7589520" y="1691640"/>
            <a:ext cx="3749040" cy="320040"/>
          </a:xfrm>
          <a:prstGeom prst="rect">
            <a:avLst/>
          </a:prstGeom>
          <a:noFill/>
          <a:ln/>
        </p:spPr>
        <p:txBody>
          <a:bodyPr wrap="square" rtlCol="0" anchor="ctr"/>
          <a:lstStyle/>
          <a:p>
            <a:pPr marL="0" indent="0">
              <a:buNone/>
            </a:pPr>
            <a:r>
              <a:rPr lang="en-US" sz="1200" b="1" kern="0" spc="150" dirty="0">
                <a:solidFill>
                  <a:srgbClr val="E8871E"/>
                </a:solidFill>
                <a:latin typeface="Calibri" pitchFamily="34" charset="0"/>
                <a:ea typeface="Calibri" pitchFamily="34" charset="-122"/>
                <a:cs typeface="Calibri" pitchFamily="34" charset="-120"/>
              </a:rPr>
              <a:t>STAR-SCHEMA MODEL</a:t>
            </a:r>
            <a:endParaRPr lang="en-US" sz="1200" dirty="0"/>
          </a:p>
        </p:txBody>
      </p:sp>
      <p:sp>
        <p:nvSpPr>
          <p:cNvPr id="33" name="Text 31"/>
          <p:cNvSpPr/>
          <p:nvPr/>
        </p:nvSpPr>
        <p:spPr>
          <a:xfrm>
            <a:off x="7589520" y="2057400"/>
            <a:ext cx="374904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Fact_Sales</a:t>
            </a:r>
            <a:endParaRPr lang="en-US" sz="1800" dirty="0"/>
          </a:p>
        </p:txBody>
      </p:sp>
      <p:sp>
        <p:nvSpPr>
          <p:cNvPr id="34" name="Shape 32"/>
          <p:cNvSpPr/>
          <p:nvPr/>
        </p:nvSpPr>
        <p:spPr>
          <a:xfrm>
            <a:off x="7635240" y="2679192"/>
            <a:ext cx="91440" cy="91440"/>
          </a:xfrm>
          <a:prstGeom prst="ellipse">
            <a:avLst/>
          </a:prstGeom>
          <a:solidFill>
            <a:srgbClr val="0E7C86"/>
          </a:solidFill>
          <a:ln/>
        </p:spPr>
      </p:sp>
      <p:sp>
        <p:nvSpPr>
          <p:cNvPr id="35" name="Text 33"/>
          <p:cNvSpPr/>
          <p:nvPr/>
        </p:nvSpPr>
        <p:spPr>
          <a:xfrm>
            <a:off x="7863840" y="2606040"/>
            <a:ext cx="3383280" cy="365760"/>
          </a:xfrm>
          <a:prstGeom prst="rect">
            <a:avLst/>
          </a:prstGeom>
          <a:noFill/>
          <a:ln/>
        </p:spPr>
        <p:txBody>
          <a:bodyPr wrap="square" rtlCol="0" anchor="ctr"/>
          <a:lstStyle/>
          <a:p>
            <a:pPr marL="0" indent="0">
              <a:buNone/>
            </a:pPr>
            <a:r>
              <a:rPr lang="en-US" sz="1250" dirty="0">
                <a:solidFill>
                  <a:srgbClr val="DCEEF0"/>
                </a:solidFill>
                <a:latin typeface="Calibri" pitchFamily="34" charset="0"/>
                <a:ea typeface="Calibri" pitchFamily="34" charset="-122"/>
                <a:cs typeface="Calibri" pitchFamily="34" charset="-120"/>
              </a:rPr>
              <a:t>DimCustomer</a:t>
            </a:r>
            <a:endParaRPr lang="en-US" sz="1250" dirty="0"/>
          </a:p>
        </p:txBody>
      </p:sp>
      <p:sp>
        <p:nvSpPr>
          <p:cNvPr id="36" name="Shape 34"/>
          <p:cNvSpPr/>
          <p:nvPr/>
        </p:nvSpPr>
        <p:spPr>
          <a:xfrm>
            <a:off x="7635240" y="3182112"/>
            <a:ext cx="91440" cy="91440"/>
          </a:xfrm>
          <a:prstGeom prst="ellipse">
            <a:avLst/>
          </a:prstGeom>
          <a:solidFill>
            <a:srgbClr val="0E7C86"/>
          </a:solidFill>
          <a:ln/>
        </p:spPr>
      </p:sp>
      <p:sp>
        <p:nvSpPr>
          <p:cNvPr id="37" name="Text 35"/>
          <p:cNvSpPr/>
          <p:nvPr/>
        </p:nvSpPr>
        <p:spPr>
          <a:xfrm>
            <a:off x="7863840" y="3108960"/>
            <a:ext cx="3383280" cy="365760"/>
          </a:xfrm>
          <a:prstGeom prst="rect">
            <a:avLst/>
          </a:prstGeom>
          <a:noFill/>
          <a:ln/>
        </p:spPr>
        <p:txBody>
          <a:bodyPr wrap="square" rtlCol="0" anchor="ctr"/>
          <a:lstStyle/>
          <a:p>
            <a:pPr marL="0" indent="0">
              <a:buNone/>
            </a:pPr>
            <a:r>
              <a:rPr lang="en-US" sz="1250" dirty="0">
                <a:solidFill>
                  <a:srgbClr val="DCEEF0"/>
                </a:solidFill>
                <a:latin typeface="Calibri" pitchFamily="34" charset="0"/>
                <a:ea typeface="Calibri" pitchFamily="34" charset="-122"/>
                <a:cs typeface="Calibri" pitchFamily="34" charset="-120"/>
              </a:rPr>
              <a:t>DimProduct</a:t>
            </a:r>
            <a:endParaRPr lang="en-US" sz="1250" dirty="0"/>
          </a:p>
        </p:txBody>
      </p:sp>
      <p:sp>
        <p:nvSpPr>
          <p:cNvPr id="38" name="Shape 36"/>
          <p:cNvSpPr/>
          <p:nvPr/>
        </p:nvSpPr>
        <p:spPr>
          <a:xfrm>
            <a:off x="7635240" y="3685032"/>
            <a:ext cx="91440" cy="91440"/>
          </a:xfrm>
          <a:prstGeom prst="ellipse">
            <a:avLst/>
          </a:prstGeom>
          <a:solidFill>
            <a:srgbClr val="0E7C86"/>
          </a:solidFill>
          <a:ln/>
        </p:spPr>
      </p:sp>
      <p:sp>
        <p:nvSpPr>
          <p:cNvPr id="39" name="Text 37"/>
          <p:cNvSpPr/>
          <p:nvPr/>
        </p:nvSpPr>
        <p:spPr>
          <a:xfrm>
            <a:off x="7863840" y="3611880"/>
            <a:ext cx="3383280" cy="365760"/>
          </a:xfrm>
          <a:prstGeom prst="rect">
            <a:avLst/>
          </a:prstGeom>
          <a:noFill/>
          <a:ln/>
        </p:spPr>
        <p:txBody>
          <a:bodyPr wrap="square" rtlCol="0" anchor="ctr"/>
          <a:lstStyle/>
          <a:p>
            <a:pPr marL="0" indent="0">
              <a:buNone/>
            </a:pPr>
            <a:r>
              <a:rPr lang="en-US" sz="1250" dirty="0">
                <a:solidFill>
                  <a:srgbClr val="DCEEF0"/>
                </a:solidFill>
                <a:latin typeface="Calibri" pitchFamily="34" charset="0"/>
                <a:ea typeface="Calibri" pitchFamily="34" charset="-122"/>
                <a:cs typeface="Calibri" pitchFamily="34" charset="-120"/>
              </a:rPr>
              <a:t>DimDate</a:t>
            </a:r>
            <a:endParaRPr lang="en-US" sz="1250" dirty="0"/>
          </a:p>
        </p:txBody>
      </p:sp>
      <p:sp>
        <p:nvSpPr>
          <p:cNvPr id="40" name="Shape 38"/>
          <p:cNvSpPr/>
          <p:nvPr/>
        </p:nvSpPr>
        <p:spPr>
          <a:xfrm>
            <a:off x="7635240" y="4187952"/>
            <a:ext cx="91440" cy="91440"/>
          </a:xfrm>
          <a:prstGeom prst="ellipse">
            <a:avLst/>
          </a:prstGeom>
          <a:solidFill>
            <a:srgbClr val="0E7C86"/>
          </a:solidFill>
          <a:ln/>
        </p:spPr>
      </p:sp>
      <p:sp>
        <p:nvSpPr>
          <p:cNvPr id="41" name="Text 39"/>
          <p:cNvSpPr/>
          <p:nvPr/>
        </p:nvSpPr>
        <p:spPr>
          <a:xfrm>
            <a:off x="7863840" y="4114800"/>
            <a:ext cx="3383280" cy="365760"/>
          </a:xfrm>
          <a:prstGeom prst="rect">
            <a:avLst/>
          </a:prstGeom>
          <a:noFill/>
          <a:ln/>
        </p:spPr>
        <p:txBody>
          <a:bodyPr wrap="square" rtlCol="0" anchor="ctr"/>
          <a:lstStyle/>
          <a:p>
            <a:pPr marL="0" indent="0">
              <a:buNone/>
            </a:pPr>
            <a:r>
              <a:rPr lang="en-US" sz="1250" dirty="0">
                <a:solidFill>
                  <a:srgbClr val="DCEEF0"/>
                </a:solidFill>
                <a:latin typeface="Calibri" pitchFamily="34" charset="0"/>
                <a:ea typeface="Calibri" pitchFamily="34" charset="-122"/>
                <a:cs typeface="Calibri" pitchFamily="34" charset="-120"/>
              </a:rPr>
              <a:t>DimSalesTerritory</a:t>
            </a:r>
            <a:endParaRPr lang="en-US" sz="1250" dirty="0"/>
          </a:p>
        </p:txBody>
      </p:sp>
      <p:sp>
        <p:nvSpPr>
          <p:cNvPr id="42" name="Shape 40"/>
          <p:cNvSpPr/>
          <p:nvPr/>
        </p:nvSpPr>
        <p:spPr>
          <a:xfrm>
            <a:off x="7635240" y="4690872"/>
            <a:ext cx="91440" cy="91440"/>
          </a:xfrm>
          <a:prstGeom prst="ellipse">
            <a:avLst/>
          </a:prstGeom>
          <a:solidFill>
            <a:srgbClr val="0E7C86"/>
          </a:solidFill>
          <a:ln/>
        </p:spPr>
      </p:sp>
      <p:sp>
        <p:nvSpPr>
          <p:cNvPr id="43" name="Text 41"/>
          <p:cNvSpPr/>
          <p:nvPr/>
        </p:nvSpPr>
        <p:spPr>
          <a:xfrm>
            <a:off x="7863840" y="4617720"/>
            <a:ext cx="3383280" cy="365760"/>
          </a:xfrm>
          <a:prstGeom prst="rect">
            <a:avLst/>
          </a:prstGeom>
          <a:noFill/>
          <a:ln/>
        </p:spPr>
        <p:txBody>
          <a:bodyPr wrap="square" rtlCol="0" anchor="ctr"/>
          <a:lstStyle/>
          <a:p>
            <a:pPr marL="0" indent="0">
              <a:buNone/>
            </a:pPr>
            <a:r>
              <a:rPr lang="en-US" sz="1250" dirty="0">
                <a:solidFill>
                  <a:srgbClr val="DCEEF0"/>
                </a:solidFill>
                <a:latin typeface="Calibri" pitchFamily="34" charset="0"/>
                <a:ea typeface="Calibri" pitchFamily="34" charset="-122"/>
                <a:cs typeface="Calibri" pitchFamily="34" charset="-120"/>
              </a:rPr>
              <a:t>DimProductCategory</a:t>
            </a:r>
            <a:endParaRPr lang="en-US" sz="1250" dirty="0"/>
          </a:p>
        </p:txBody>
      </p:sp>
      <p:sp>
        <p:nvSpPr>
          <p:cNvPr id="44" name="Shape 42"/>
          <p:cNvSpPr/>
          <p:nvPr/>
        </p:nvSpPr>
        <p:spPr>
          <a:xfrm>
            <a:off x="7635240" y="5193792"/>
            <a:ext cx="91440" cy="91440"/>
          </a:xfrm>
          <a:prstGeom prst="ellipse">
            <a:avLst/>
          </a:prstGeom>
          <a:solidFill>
            <a:srgbClr val="0E7C86"/>
          </a:solidFill>
          <a:ln/>
        </p:spPr>
      </p:sp>
      <p:sp>
        <p:nvSpPr>
          <p:cNvPr id="45" name="Text 43"/>
          <p:cNvSpPr/>
          <p:nvPr/>
        </p:nvSpPr>
        <p:spPr>
          <a:xfrm>
            <a:off x="7863840" y="5120640"/>
            <a:ext cx="3383280" cy="365760"/>
          </a:xfrm>
          <a:prstGeom prst="rect">
            <a:avLst/>
          </a:prstGeom>
          <a:noFill/>
          <a:ln/>
        </p:spPr>
        <p:txBody>
          <a:bodyPr wrap="square" rtlCol="0" anchor="ctr"/>
          <a:lstStyle/>
          <a:p>
            <a:pPr marL="0" indent="0">
              <a:buNone/>
            </a:pPr>
            <a:r>
              <a:rPr lang="en-US" sz="1250" dirty="0">
                <a:solidFill>
                  <a:srgbClr val="DCEEF0"/>
                </a:solidFill>
                <a:latin typeface="Calibri" pitchFamily="34" charset="0"/>
                <a:ea typeface="Calibri" pitchFamily="34" charset="-122"/>
                <a:cs typeface="Calibri" pitchFamily="34" charset="-120"/>
              </a:rPr>
              <a:t>DimProductSubCategory</a:t>
            </a:r>
            <a:endParaRPr lang="en-US" sz="1250" dirty="0"/>
          </a:p>
        </p:txBody>
      </p:sp>
      <p:sp>
        <p:nvSpPr>
          <p:cNvPr id="46" name="Text 44"/>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47" name="Text 4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4</a:t>
            </a:r>
            <a:endParaRPr lang="en-US" sz="900" dirty="0"/>
          </a:p>
        </p:txBody>
      </p:sp>
      <p:sp>
        <p:nvSpPr>
          <p:cNvPr id="49" name="Shape 0">
            <a:extLst>
              <a:ext uri="{FF2B5EF4-FFF2-40B4-BE49-F238E27FC236}">
                <a16:creationId xmlns:a16="http://schemas.microsoft.com/office/drawing/2014/main" id="{7398CC17-0BF9-7349-9946-E191B36A7256}"/>
              </a:ext>
            </a:extLst>
          </p:cNvPr>
          <p:cNvSpPr/>
          <p:nvPr/>
        </p:nvSpPr>
        <p:spPr>
          <a:xfrm>
            <a:off x="9966960" y="-1005840"/>
            <a:ext cx="3840480" cy="3840480"/>
          </a:xfrm>
          <a:prstGeom prst="ellipse">
            <a:avLst/>
          </a:prstGeom>
          <a:solidFill>
            <a:srgbClr val="0E7C86">
              <a:alpha val="22000"/>
            </a:srgbClr>
          </a:solidFill>
          <a:ln/>
        </p:spPr>
      </p:sp>
      <p:sp>
        <p:nvSpPr>
          <p:cNvPr id="51" name="Shape 1">
            <a:extLst>
              <a:ext uri="{FF2B5EF4-FFF2-40B4-BE49-F238E27FC236}">
                <a16:creationId xmlns:a16="http://schemas.microsoft.com/office/drawing/2014/main" id="{22BAEB59-612F-0EBB-6F0A-4FE775EDB054}"/>
              </a:ext>
            </a:extLst>
          </p:cNvPr>
          <p:cNvSpPr/>
          <p:nvPr/>
        </p:nvSpPr>
        <p:spPr>
          <a:xfrm>
            <a:off x="10972800" y="4206240"/>
            <a:ext cx="2743200" cy="2743200"/>
          </a:xfrm>
          <a:prstGeom prst="ellipse">
            <a:avLst/>
          </a:prstGeom>
          <a:solidFill>
            <a:srgbClr val="E8871E">
              <a:alpha val="20000"/>
            </a:srgbClr>
          </a:solidFill>
          <a:ln/>
        </p:spPr>
      </p:sp>
      <p:sp>
        <p:nvSpPr>
          <p:cNvPr id="53" name="Shape 2">
            <a:extLst>
              <a:ext uri="{FF2B5EF4-FFF2-40B4-BE49-F238E27FC236}">
                <a16:creationId xmlns:a16="http://schemas.microsoft.com/office/drawing/2014/main" id="{3B9F3472-3534-953D-9A09-1F9B99B6CBD1}"/>
              </a:ext>
            </a:extLst>
          </p:cNvPr>
          <p:cNvSpPr/>
          <p:nvPr/>
        </p:nvSpPr>
        <p:spPr>
          <a:xfrm>
            <a:off x="-1097280" y="5120640"/>
            <a:ext cx="3108960" cy="3108960"/>
          </a:xfrm>
          <a:prstGeom prst="ellipse">
            <a:avLst/>
          </a:prstGeom>
          <a:solidFill>
            <a:srgbClr val="0E7C86">
              <a:alpha val="18000"/>
            </a:srgbClr>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ADVENTURE WORKS DATA MODELING</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Star-schema relationships linking the Sales fact table to six dimension tables</a:t>
            </a:r>
            <a:endParaRPr lang="en-US" sz="1300" dirty="0"/>
          </a:p>
        </p:txBody>
      </p:sp>
      <p:sp>
        <p:nvSpPr>
          <p:cNvPr id="90" name="ImageCard"/>
          <p:cNvSpPr/>
          <p:nvPr/>
        </p:nvSpPr>
        <p:spPr>
          <a:xfrm>
            <a:off x="1046480" y="1493520"/>
            <a:ext cx="10099040" cy="4400000"/>
          </a:xfrm>
          <a:prstGeom prst="roundRect">
            <a:avLst>
              <a:gd name="adj" fmla="val 3000"/>
            </a:avLst>
          </a:prstGeom>
          <a:solidFill>
            <a:srgbClr val="F7F9FC"/>
          </a:solidFill>
          <a:ln w="9525">
            <a:solidFill>
              <a:srgbClr val="E2E8F0"/>
            </a:solidFill>
          </a:ln>
          <a:effectLst>
            <a:outerShdw blurRad="90000" dist="30000" dir="5400000" rotWithShape="0">
              <a:srgbClr val="142850">
                <a:alpha val="16000"/>
              </a:srgbClr>
            </a:outerShdw>
          </a:effectLst>
        </p:spPr>
        <p:txBody>
          <a:bodyPr/>
          <a:lstStyle/>
          <a:p>
            <a:endParaRPr lang="en-US"/>
          </a:p>
        </p:txBody>
      </p:sp>
      <p:pic>
        <p:nvPicPr>
          <p:cNvPr id="91" name="DataModelDiagram" descr="AdventureWorks star-schema data model diagram"/>
          <p:cNvPicPr>
            <a:picLocks noChangeAspect="1"/>
          </p:cNvPicPr>
          <p:nvPr/>
        </p:nvPicPr>
        <p:blipFill>
          <a:blip r:embed="rId2"/>
          <a:stretch>
            <a:fillRect/>
          </a:stretch>
        </p:blipFill>
        <p:spPr>
          <a:xfrm>
            <a:off x="1246480" y="1693520"/>
            <a:ext cx="9699040" cy="4134617"/>
          </a:xfrm>
          <a:prstGeom prst="rect">
            <a:avLst/>
          </a:prstGeom>
        </p:spPr>
      </p:pic>
      <p:sp>
        <p:nvSpPr>
          <p:cNvPr id="92" name="ChipFact"/>
          <p:cNvSpPr/>
          <p:nvPr/>
        </p:nvSpPr>
        <p:spPr>
          <a:xfrm>
            <a:off x="1246480" y="6031000"/>
            <a:ext cx="2286000" cy="365760"/>
          </a:xfrm>
          <a:prstGeom prst="roundRect">
            <a:avLst>
              <a:gd name="adj" fmla="val 50000"/>
            </a:avLst>
          </a:prstGeom>
          <a:solidFill>
            <a:srgbClr val="142850"/>
          </a:solidFill>
          <a:ln/>
        </p:spPr>
        <p:txBody>
          <a:bodyPr wrap="square" rtlCol="0" anchor="ctr"/>
          <a:lstStyle/>
          <a:p>
            <a:pPr marL="0" indent="0" algn="ctr">
              <a:buNone/>
            </a:pPr>
            <a:r>
              <a:rPr lang="en-US" sz="1100" b="1" dirty="0">
                <a:solidFill>
                  <a:srgbClr val="FFFFFF"/>
                </a:solidFill>
                <a:latin typeface="Calibri" pitchFamily="34" charset="0"/>
              </a:rPr>
              <a:t>1 Fact Table • Sales</a:t>
            </a:r>
          </a:p>
        </p:txBody>
      </p:sp>
      <p:sp>
        <p:nvSpPr>
          <p:cNvPr id="93" name="ChipDim"/>
          <p:cNvSpPr/>
          <p:nvPr/>
        </p:nvSpPr>
        <p:spPr>
          <a:xfrm>
            <a:off x="3703040" y="6031000"/>
            <a:ext cx="2743200" cy="365760"/>
          </a:xfrm>
          <a:prstGeom prst="roundRect">
            <a:avLst>
              <a:gd name="adj" fmla="val 50000"/>
            </a:avLst>
          </a:prstGeom>
          <a:solidFill>
            <a:srgbClr val="E8871E"/>
          </a:solidFill>
          <a:ln/>
        </p:spPr>
        <p:txBody>
          <a:bodyPr wrap="square" rtlCol="0" anchor="ctr"/>
          <a:lstStyle/>
          <a:p>
            <a:pPr marL="0" indent="0" algn="ctr">
              <a:buNone/>
            </a:pPr>
            <a:r>
              <a:rPr lang="en-US" sz="1100" b="1" dirty="0">
                <a:solidFill>
                  <a:srgbClr val="FFFFFF"/>
                </a:solidFill>
                <a:latin typeface="Calibri" pitchFamily="34" charset="0"/>
              </a:rPr>
              <a:t>6 Dimension Tables</a:t>
            </a:r>
          </a:p>
        </p:txBody>
      </p:sp>
      <p:sp>
        <p:nvSpPr>
          <p:cNvPr id="94" name="ChipStar"/>
          <p:cNvSpPr/>
          <p:nvPr/>
        </p:nvSpPr>
        <p:spPr>
          <a:xfrm>
            <a:off x="6708920" y="6031000"/>
            <a:ext cx="2743200" cy="365760"/>
          </a:xfrm>
          <a:prstGeom prst="roundRect">
            <a:avLst>
              <a:gd name="adj" fmla="val 50000"/>
            </a:avLst>
          </a:prstGeom>
          <a:solidFill>
            <a:srgbClr val="0E7C86"/>
          </a:solidFill>
          <a:ln/>
        </p:spPr>
        <p:txBody>
          <a:bodyPr wrap="square" rtlCol="0" anchor="ctr"/>
          <a:lstStyle/>
          <a:p>
            <a:pPr marL="0" indent="0" algn="ctr">
              <a:buNone/>
            </a:pPr>
            <a:r>
              <a:rPr lang="en-US" sz="1100" b="1" dirty="0">
                <a:solidFill>
                  <a:srgbClr val="FFFFFF"/>
                </a:solidFill>
                <a:latin typeface="Calibri" pitchFamily="34" charset="0"/>
              </a:rPr>
              <a:t>Star-Schema Design</a:t>
            </a:r>
          </a:p>
        </p:txBody>
      </p:sp>
      <p:sp>
        <p:nvSpPr>
          <p:cNvPr id="46" name="Text 44"/>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47" name="Text 4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5</a:t>
            </a:r>
            <a:endParaRPr lang="en-US" sz="900" dirty="0"/>
          </a:p>
        </p:txBody>
      </p:sp>
      <p:sp>
        <p:nvSpPr>
          <p:cNvPr id="5" name="Shape 0">
            <a:extLst>
              <a:ext uri="{FF2B5EF4-FFF2-40B4-BE49-F238E27FC236}">
                <a16:creationId xmlns:a16="http://schemas.microsoft.com/office/drawing/2014/main" id="{2F921A56-B759-EA6A-D2D1-8B8ED9F68DC1}"/>
              </a:ext>
            </a:extLst>
          </p:cNvPr>
          <p:cNvSpPr/>
          <p:nvPr/>
        </p:nvSpPr>
        <p:spPr>
          <a:xfrm>
            <a:off x="-2348865" y="-1005840"/>
            <a:ext cx="3840480" cy="3840480"/>
          </a:xfrm>
          <a:prstGeom prst="ellipse">
            <a:avLst/>
          </a:prstGeom>
          <a:solidFill>
            <a:srgbClr val="0E7C86">
              <a:alpha val="22000"/>
            </a:srgbClr>
          </a:solidFill>
          <a:ln/>
        </p:spPr>
      </p:sp>
      <p:sp>
        <p:nvSpPr>
          <p:cNvPr id="7" name="Shape 1">
            <a:extLst>
              <a:ext uri="{FF2B5EF4-FFF2-40B4-BE49-F238E27FC236}">
                <a16:creationId xmlns:a16="http://schemas.microsoft.com/office/drawing/2014/main" id="{2C5184D6-3D92-EF47-36FE-52FE7B61E1A5}"/>
              </a:ext>
            </a:extLst>
          </p:cNvPr>
          <p:cNvSpPr/>
          <p:nvPr/>
        </p:nvSpPr>
        <p:spPr>
          <a:xfrm>
            <a:off x="10972800" y="91440"/>
            <a:ext cx="2743200" cy="2743200"/>
          </a:xfrm>
          <a:prstGeom prst="ellipse">
            <a:avLst/>
          </a:prstGeom>
          <a:solidFill>
            <a:srgbClr val="E8871E">
              <a:alpha val="20000"/>
            </a:srgbClr>
          </a:solidFill>
          <a:ln/>
        </p:spPr>
      </p:sp>
      <p:sp>
        <p:nvSpPr>
          <p:cNvPr id="9" name="Shape 2">
            <a:extLst>
              <a:ext uri="{FF2B5EF4-FFF2-40B4-BE49-F238E27FC236}">
                <a16:creationId xmlns:a16="http://schemas.microsoft.com/office/drawing/2014/main" id="{FA4C734A-7AA7-AB98-BB85-FEEBE1E42908}"/>
              </a:ext>
            </a:extLst>
          </p:cNvPr>
          <p:cNvSpPr/>
          <p:nvPr/>
        </p:nvSpPr>
        <p:spPr>
          <a:xfrm>
            <a:off x="10999470" y="5120640"/>
            <a:ext cx="3108960" cy="3108960"/>
          </a:xfrm>
          <a:prstGeom prst="ellipse">
            <a:avLst/>
          </a:prstGeom>
          <a:solidFill>
            <a:srgbClr val="0E7C86">
              <a:alpha val="18000"/>
            </a:srgbClr>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DATA PREPARATION</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Excel phase — cleaning, lookups &amp; calculated fields</a:t>
            </a:r>
            <a:endParaRPr lang="en-US" sz="1300" dirty="0"/>
          </a:p>
        </p:txBody>
      </p:sp>
      <p:sp>
        <p:nvSpPr>
          <p:cNvPr id="4" name="Shape 2"/>
          <p:cNvSpPr/>
          <p:nvPr/>
        </p:nvSpPr>
        <p:spPr>
          <a:xfrm>
            <a:off x="548640" y="1508760"/>
            <a:ext cx="3520440" cy="1965960"/>
          </a:xfrm>
          <a:prstGeom prst="roundRect">
            <a:avLst>
              <a:gd name="adj" fmla="val 3256"/>
            </a:avLst>
          </a:prstGeom>
          <a:solidFill>
            <a:srgbClr val="DCEEF0"/>
          </a:solidFill>
          <a:ln/>
        </p:spPr>
      </p:sp>
      <p:sp>
        <p:nvSpPr>
          <p:cNvPr id="5" name="Shape 3"/>
          <p:cNvSpPr/>
          <p:nvPr/>
        </p:nvSpPr>
        <p:spPr>
          <a:xfrm>
            <a:off x="777240" y="1737360"/>
            <a:ext cx="457200" cy="457200"/>
          </a:xfrm>
          <a:prstGeom prst="ellipse">
            <a:avLst/>
          </a:prstGeom>
          <a:solidFill>
            <a:srgbClr val="0E7C86"/>
          </a:solidFill>
          <a:ln/>
        </p:spPr>
      </p:sp>
      <p:sp>
        <p:nvSpPr>
          <p:cNvPr id="6" name="Text 4"/>
          <p:cNvSpPr/>
          <p:nvPr/>
        </p:nvSpPr>
        <p:spPr>
          <a:xfrm>
            <a:off x="777240" y="17373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777240" y="2331720"/>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cs typeface="Cambria" pitchFamily="34" charset="-120"/>
              </a:rPr>
              <a:t>Union Sales Data</a:t>
            </a:r>
            <a:endParaRPr lang="en-US" sz="1400" dirty="0"/>
          </a:p>
        </p:txBody>
      </p:sp>
      <p:sp>
        <p:nvSpPr>
          <p:cNvPr id="8" name="Text 6"/>
          <p:cNvSpPr/>
          <p:nvPr/>
        </p:nvSpPr>
        <p:spPr>
          <a:xfrm>
            <a:off x="777240" y="2651760"/>
            <a:ext cx="3063240" cy="731520"/>
          </a:xfrm>
          <a:prstGeom prst="rect">
            <a:avLst/>
          </a:prstGeom>
          <a:noFill/>
          <a:ln/>
        </p:spPr>
        <p:txBody>
          <a:bodyPr wrap="square" rtlCol="0" anchor="ctr"/>
          <a:lstStyle/>
          <a:p>
            <a:pPr marL="0" indent="0">
              <a:lnSpc>
                <a:spcPct val="115000"/>
              </a:lnSpc>
              <a:buNone/>
            </a:pPr>
            <a:r>
              <a:rPr lang="en-US" sz="1050" dirty="0">
                <a:solidFill>
                  <a:srgbClr val="1F2937"/>
                </a:solidFill>
                <a:latin typeface="Calibri" pitchFamily="34" charset="0"/>
                <a:ea typeface="Calibri" pitchFamily="34" charset="-122"/>
                <a:cs typeface="Calibri" pitchFamily="34" charset="-120"/>
              </a:rPr>
              <a:t>Combined FactInternetSales and Fact_Internet_Sales_New into a single Sales sheet.</a:t>
            </a:r>
            <a:endParaRPr lang="en-US" sz="1050" dirty="0"/>
          </a:p>
        </p:txBody>
      </p:sp>
      <p:sp>
        <p:nvSpPr>
          <p:cNvPr id="9" name="Shape 7"/>
          <p:cNvSpPr/>
          <p:nvPr/>
        </p:nvSpPr>
        <p:spPr>
          <a:xfrm>
            <a:off x="4343400" y="1508760"/>
            <a:ext cx="3520440" cy="1965960"/>
          </a:xfrm>
          <a:prstGeom prst="roundRect">
            <a:avLst>
              <a:gd name="adj" fmla="val 3256"/>
            </a:avLst>
          </a:prstGeom>
          <a:solidFill>
            <a:srgbClr val="FCE6CC"/>
          </a:solidFill>
          <a:ln/>
        </p:spPr>
      </p:sp>
      <p:sp>
        <p:nvSpPr>
          <p:cNvPr id="10" name="Shape 8"/>
          <p:cNvSpPr/>
          <p:nvPr/>
        </p:nvSpPr>
        <p:spPr>
          <a:xfrm>
            <a:off x="4572000" y="1737360"/>
            <a:ext cx="457200" cy="457200"/>
          </a:xfrm>
          <a:prstGeom prst="ellipse">
            <a:avLst/>
          </a:prstGeom>
          <a:solidFill>
            <a:srgbClr val="E8871E"/>
          </a:solidFill>
          <a:ln/>
        </p:spPr>
      </p:sp>
      <p:sp>
        <p:nvSpPr>
          <p:cNvPr id="11" name="Text 9"/>
          <p:cNvSpPr/>
          <p:nvPr/>
        </p:nvSpPr>
        <p:spPr>
          <a:xfrm>
            <a:off x="4572000" y="17373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4572000" y="2331720"/>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cs typeface="Cambria" pitchFamily="34" charset="-120"/>
              </a:rPr>
              <a:t>Lookups</a:t>
            </a:r>
            <a:endParaRPr lang="en-US" sz="1400" dirty="0"/>
          </a:p>
        </p:txBody>
      </p:sp>
      <p:sp>
        <p:nvSpPr>
          <p:cNvPr id="13" name="Text 11"/>
          <p:cNvSpPr/>
          <p:nvPr/>
        </p:nvSpPr>
        <p:spPr>
          <a:xfrm>
            <a:off x="4572000" y="2651760"/>
            <a:ext cx="3063240" cy="731520"/>
          </a:xfrm>
          <a:prstGeom prst="rect">
            <a:avLst/>
          </a:prstGeom>
          <a:noFill/>
          <a:ln/>
        </p:spPr>
        <p:txBody>
          <a:bodyPr wrap="square" rtlCol="0" anchor="ctr"/>
          <a:lstStyle/>
          <a:p>
            <a:pPr marL="0" indent="0">
              <a:lnSpc>
                <a:spcPct val="115000"/>
              </a:lnSpc>
              <a:buNone/>
            </a:pPr>
            <a:r>
              <a:rPr lang="en-US" sz="1050" dirty="0">
                <a:solidFill>
                  <a:srgbClr val="1F2937"/>
                </a:solidFill>
                <a:latin typeface="Calibri" pitchFamily="34" charset="0"/>
                <a:ea typeface="Calibri" pitchFamily="34" charset="-122"/>
                <a:cs typeface="Calibri" pitchFamily="34" charset="-120"/>
              </a:rPr>
              <a:t>XLOOKUP / VLOOKUP for Product Name, Customer Full Name and Unit Price.</a:t>
            </a:r>
            <a:endParaRPr lang="en-US" sz="1050" dirty="0"/>
          </a:p>
        </p:txBody>
      </p:sp>
      <p:sp>
        <p:nvSpPr>
          <p:cNvPr id="14" name="Shape 12"/>
          <p:cNvSpPr/>
          <p:nvPr/>
        </p:nvSpPr>
        <p:spPr>
          <a:xfrm>
            <a:off x="8138160" y="1508760"/>
            <a:ext cx="3520440" cy="1965960"/>
          </a:xfrm>
          <a:prstGeom prst="roundRect">
            <a:avLst>
              <a:gd name="adj" fmla="val 3256"/>
            </a:avLst>
          </a:prstGeom>
          <a:solidFill>
            <a:srgbClr val="DCEEF0"/>
          </a:solidFill>
          <a:ln/>
        </p:spPr>
      </p:sp>
      <p:sp>
        <p:nvSpPr>
          <p:cNvPr id="15" name="Shape 13"/>
          <p:cNvSpPr/>
          <p:nvPr/>
        </p:nvSpPr>
        <p:spPr>
          <a:xfrm>
            <a:off x="8366760" y="1737360"/>
            <a:ext cx="457200" cy="457200"/>
          </a:xfrm>
          <a:prstGeom prst="ellipse">
            <a:avLst/>
          </a:prstGeom>
          <a:solidFill>
            <a:srgbClr val="0E7C86"/>
          </a:solidFill>
          <a:ln/>
        </p:spPr>
      </p:sp>
      <p:sp>
        <p:nvSpPr>
          <p:cNvPr id="16" name="Text 14"/>
          <p:cNvSpPr/>
          <p:nvPr/>
        </p:nvSpPr>
        <p:spPr>
          <a:xfrm>
            <a:off x="8366760" y="17373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8366760" y="2331720"/>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cs typeface="Cambria" pitchFamily="34" charset="-120"/>
              </a:rPr>
              <a:t>Date Fields</a:t>
            </a:r>
            <a:endParaRPr lang="en-US" sz="1400" dirty="0"/>
          </a:p>
        </p:txBody>
      </p:sp>
      <p:sp>
        <p:nvSpPr>
          <p:cNvPr id="18" name="Text 16"/>
          <p:cNvSpPr/>
          <p:nvPr/>
        </p:nvSpPr>
        <p:spPr>
          <a:xfrm>
            <a:off x="8366760" y="2651760"/>
            <a:ext cx="3063240" cy="731520"/>
          </a:xfrm>
          <a:prstGeom prst="rect">
            <a:avLst/>
          </a:prstGeom>
          <a:noFill/>
          <a:ln/>
        </p:spPr>
        <p:txBody>
          <a:bodyPr wrap="square" rtlCol="0" anchor="ctr"/>
          <a:lstStyle/>
          <a:p>
            <a:pPr marL="0" indent="0">
              <a:lnSpc>
                <a:spcPct val="115000"/>
              </a:lnSpc>
              <a:buNone/>
            </a:pPr>
            <a:r>
              <a:rPr lang="en-US" sz="1050" dirty="0">
                <a:solidFill>
                  <a:srgbClr val="1F2937"/>
                </a:solidFill>
                <a:latin typeface="Calibri" pitchFamily="34" charset="0"/>
                <a:ea typeface="Calibri" pitchFamily="34" charset="-122"/>
                <a:cs typeface="Calibri" pitchFamily="34" charset="-120"/>
              </a:rPr>
              <a:t>Derived Year, Month, Quarter, Year-Month, Weekday and Financial Month/Quarter from OrderDateKey.</a:t>
            </a:r>
            <a:endParaRPr lang="en-US" sz="1050" dirty="0"/>
          </a:p>
        </p:txBody>
      </p:sp>
      <p:sp>
        <p:nvSpPr>
          <p:cNvPr id="19" name="Shape 17"/>
          <p:cNvSpPr/>
          <p:nvPr/>
        </p:nvSpPr>
        <p:spPr>
          <a:xfrm>
            <a:off x="548640" y="3730752"/>
            <a:ext cx="3520440" cy="1965960"/>
          </a:xfrm>
          <a:prstGeom prst="roundRect">
            <a:avLst>
              <a:gd name="adj" fmla="val 3256"/>
            </a:avLst>
          </a:prstGeom>
          <a:solidFill>
            <a:srgbClr val="FCE6CC"/>
          </a:solidFill>
          <a:ln/>
        </p:spPr>
      </p:sp>
      <p:sp>
        <p:nvSpPr>
          <p:cNvPr id="20" name="Shape 18"/>
          <p:cNvSpPr/>
          <p:nvPr/>
        </p:nvSpPr>
        <p:spPr>
          <a:xfrm>
            <a:off x="777240" y="3959352"/>
            <a:ext cx="457200" cy="457200"/>
          </a:xfrm>
          <a:prstGeom prst="ellipse">
            <a:avLst/>
          </a:prstGeom>
          <a:solidFill>
            <a:srgbClr val="E8871E"/>
          </a:solidFill>
          <a:ln/>
        </p:spPr>
      </p:sp>
      <p:sp>
        <p:nvSpPr>
          <p:cNvPr id="21" name="Text 19"/>
          <p:cNvSpPr/>
          <p:nvPr/>
        </p:nvSpPr>
        <p:spPr>
          <a:xfrm>
            <a:off x="777240" y="395935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77240" y="4553712"/>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cs typeface="Cambria" pitchFamily="34" charset="-120"/>
              </a:rPr>
              <a:t>Sales Amount</a:t>
            </a:r>
            <a:endParaRPr lang="en-US" sz="1400" dirty="0"/>
          </a:p>
        </p:txBody>
      </p:sp>
      <p:sp>
        <p:nvSpPr>
          <p:cNvPr id="23" name="Text 21"/>
          <p:cNvSpPr/>
          <p:nvPr/>
        </p:nvSpPr>
        <p:spPr>
          <a:xfrm>
            <a:off x="777240" y="4873752"/>
            <a:ext cx="3063240" cy="731520"/>
          </a:xfrm>
          <a:prstGeom prst="rect">
            <a:avLst/>
          </a:prstGeom>
          <a:noFill/>
          <a:ln/>
        </p:spPr>
        <p:txBody>
          <a:bodyPr wrap="square" rtlCol="0" anchor="ctr"/>
          <a:lstStyle/>
          <a:p>
            <a:pPr marL="0" indent="0">
              <a:lnSpc>
                <a:spcPct val="115000"/>
              </a:lnSpc>
              <a:buNone/>
            </a:pPr>
            <a:r>
              <a:rPr lang="en-US" sz="1050" dirty="0">
                <a:solidFill>
                  <a:srgbClr val="1F2937"/>
                </a:solidFill>
                <a:latin typeface="Calibri" pitchFamily="34" charset="0"/>
                <a:ea typeface="Calibri" pitchFamily="34" charset="-122"/>
                <a:cs typeface="Calibri" pitchFamily="34" charset="-120"/>
              </a:rPr>
              <a:t>Unit Price × Order Quantity × (1 − Unit Discount).</a:t>
            </a:r>
            <a:endParaRPr lang="en-US" sz="1050" dirty="0"/>
          </a:p>
        </p:txBody>
      </p:sp>
      <p:sp>
        <p:nvSpPr>
          <p:cNvPr id="24" name="Shape 22"/>
          <p:cNvSpPr/>
          <p:nvPr/>
        </p:nvSpPr>
        <p:spPr>
          <a:xfrm>
            <a:off x="4343400" y="3730752"/>
            <a:ext cx="3520440" cy="1965960"/>
          </a:xfrm>
          <a:prstGeom prst="roundRect">
            <a:avLst>
              <a:gd name="adj" fmla="val 3256"/>
            </a:avLst>
          </a:prstGeom>
          <a:solidFill>
            <a:srgbClr val="DCEEF0"/>
          </a:solidFill>
          <a:ln/>
        </p:spPr>
      </p:sp>
      <p:sp>
        <p:nvSpPr>
          <p:cNvPr id="25" name="Shape 23"/>
          <p:cNvSpPr/>
          <p:nvPr/>
        </p:nvSpPr>
        <p:spPr>
          <a:xfrm>
            <a:off x="4572000" y="3959352"/>
            <a:ext cx="457200" cy="457200"/>
          </a:xfrm>
          <a:prstGeom prst="ellipse">
            <a:avLst/>
          </a:prstGeom>
          <a:solidFill>
            <a:srgbClr val="0E7C86"/>
          </a:solidFill>
          <a:ln/>
        </p:spPr>
      </p:sp>
      <p:sp>
        <p:nvSpPr>
          <p:cNvPr id="26" name="Text 24"/>
          <p:cNvSpPr/>
          <p:nvPr/>
        </p:nvSpPr>
        <p:spPr>
          <a:xfrm>
            <a:off x="4572000" y="395935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4572000" y="4553712"/>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cs typeface="Cambria" pitchFamily="34" charset="-120"/>
              </a:rPr>
              <a:t>Production Cost</a:t>
            </a:r>
            <a:endParaRPr lang="en-US" sz="1400" dirty="0"/>
          </a:p>
        </p:txBody>
      </p:sp>
      <p:sp>
        <p:nvSpPr>
          <p:cNvPr id="28" name="Text 26"/>
          <p:cNvSpPr/>
          <p:nvPr/>
        </p:nvSpPr>
        <p:spPr>
          <a:xfrm>
            <a:off x="4572000" y="4873752"/>
            <a:ext cx="3063240" cy="731520"/>
          </a:xfrm>
          <a:prstGeom prst="rect">
            <a:avLst/>
          </a:prstGeom>
          <a:noFill/>
          <a:ln/>
        </p:spPr>
        <p:txBody>
          <a:bodyPr wrap="square" rtlCol="0" anchor="ctr"/>
          <a:lstStyle/>
          <a:p>
            <a:pPr marL="0" indent="0">
              <a:lnSpc>
                <a:spcPct val="115000"/>
              </a:lnSpc>
              <a:buNone/>
            </a:pPr>
            <a:r>
              <a:rPr lang="en-US" sz="1050" dirty="0">
                <a:solidFill>
                  <a:srgbClr val="1F2937"/>
                </a:solidFill>
                <a:latin typeface="Calibri" pitchFamily="34" charset="0"/>
                <a:ea typeface="Calibri" pitchFamily="34" charset="-122"/>
                <a:cs typeface="Calibri" pitchFamily="34" charset="-120"/>
              </a:rPr>
              <a:t>Unit Cost × Order Quantity.</a:t>
            </a:r>
            <a:endParaRPr lang="en-US" sz="1050" dirty="0"/>
          </a:p>
        </p:txBody>
      </p:sp>
      <p:sp>
        <p:nvSpPr>
          <p:cNvPr id="29" name="Shape 27"/>
          <p:cNvSpPr/>
          <p:nvPr/>
        </p:nvSpPr>
        <p:spPr>
          <a:xfrm>
            <a:off x="8138160" y="3730752"/>
            <a:ext cx="3520440" cy="1965960"/>
          </a:xfrm>
          <a:prstGeom prst="roundRect">
            <a:avLst>
              <a:gd name="adj" fmla="val 3256"/>
            </a:avLst>
          </a:prstGeom>
          <a:solidFill>
            <a:srgbClr val="FCE6CC"/>
          </a:solidFill>
          <a:ln/>
        </p:spPr>
      </p:sp>
      <p:sp>
        <p:nvSpPr>
          <p:cNvPr id="30" name="Shape 28"/>
          <p:cNvSpPr/>
          <p:nvPr/>
        </p:nvSpPr>
        <p:spPr>
          <a:xfrm>
            <a:off x="8366760" y="3959352"/>
            <a:ext cx="457200" cy="457200"/>
          </a:xfrm>
          <a:prstGeom prst="ellipse">
            <a:avLst/>
          </a:prstGeom>
          <a:solidFill>
            <a:srgbClr val="E8871E"/>
          </a:solidFill>
          <a:ln/>
        </p:spPr>
      </p:sp>
      <p:sp>
        <p:nvSpPr>
          <p:cNvPr id="31" name="Text 29"/>
          <p:cNvSpPr/>
          <p:nvPr/>
        </p:nvSpPr>
        <p:spPr>
          <a:xfrm>
            <a:off x="8366760" y="395935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8366760" y="4553712"/>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cs typeface="Cambria" pitchFamily="34" charset="-120"/>
              </a:rPr>
              <a:t>Profit</a:t>
            </a:r>
            <a:endParaRPr lang="en-US" sz="1400" dirty="0"/>
          </a:p>
        </p:txBody>
      </p:sp>
      <p:sp>
        <p:nvSpPr>
          <p:cNvPr id="33" name="Text 31"/>
          <p:cNvSpPr/>
          <p:nvPr/>
        </p:nvSpPr>
        <p:spPr>
          <a:xfrm>
            <a:off x="8366760" y="4873752"/>
            <a:ext cx="3063240" cy="731520"/>
          </a:xfrm>
          <a:prstGeom prst="rect">
            <a:avLst/>
          </a:prstGeom>
          <a:noFill/>
          <a:ln/>
        </p:spPr>
        <p:txBody>
          <a:bodyPr wrap="square" rtlCol="0" anchor="ctr"/>
          <a:lstStyle/>
          <a:p>
            <a:pPr marL="0" indent="0">
              <a:lnSpc>
                <a:spcPct val="115000"/>
              </a:lnSpc>
              <a:buNone/>
            </a:pPr>
            <a:r>
              <a:rPr lang="en-US" sz="1050" dirty="0">
                <a:solidFill>
                  <a:srgbClr val="1F2937"/>
                </a:solidFill>
                <a:latin typeface="Calibri" pitchFamily="34" charset="0"/>
                <a:ea typeface="Calibri" pitchFamily="34" charset="-122"/>
                <a:cs typeface="Calibri" pitchFamily="34" charset="-120"/>
              </a:rPr>
              <a:t>Sales Amount − Production Cost.</a:t>
            </a:r>
            <a:endParaRPr lang="en-US" sz="1050" dirty="0"/>
          </a:p>
        </p:txBody>
      </p:sp>
      <p:sp>
        <p:nvSpPr>
          <p:cNvPr id="34" name="Text 32"/>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35" name="Text 3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PROJECT QUESTIONNAIRE</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Key tasks assigned across the analytics workflow</a:t>
            </a:r>
            <a:endParaRPr lang="en-US" sz="1300" dirty="0"/>
          </a:p>
        </p:txBody>
      </p:sp>
      <p:sp>
        <p:nvSpPr>
          <p:cNvPr id="4" name="Shape 2"/>
          <p:cNvSpPr/>
          <p:nvPr/>
        </p:nvSpPr>
        <p:spPr>
          <a:xfrm>
            <a:off x="548640" y="1463040"/>
            <a:ext cx="3520440" cy="4480560"/>
          </a:xfrm>
          <a:prstGeom prst="roundRect">
            <a:avLst>
              <a:gd name="adj" fmla="val 1818"/>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5" name="Shape 3"/>
          <p:cNvSpPr/>
          <p:nvPr/>
        </p:nvSpPr>
        <p:spPr>
          <a:xfrm>
            <a:off x="548640" y="1463040"/>
            <a:ext cx="3520440" cy="566928"/>
          </a:xfrm>
          <a:prstGeom prst="rect">
            <a:avLst/>
          </a:prstGeom>
          <a:solidFill>
            <a:srgbClr val="0E7C86"/>
          </a:solidFill>
          <a:ln/>
        </p:spPr>
      </p:sp>
      <p:sp>
        <p:nvSpPr>
          <p:cNvPr id="6" name="Text 4"/>
          <p:cNvSpPr/>
          <p:nvPr/>
        </p:nvSpPr>
        <p:spPr>
          <a:xfrm>
            <a:off x="731520" y="1463040"/>
            <a:ext cx="3154680" cy="566928"/>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Data Prep &amp; Calculations</a:t>
            </a:r>
            <a:endParaRPr lang="en-US" sz="1400" dirty="0"/>
          </a:p>
        </p:txBody>
      </p:sp>
      <p:sp>
        <p:nvSpPr>
          <p:cNvPr id="7" name="Shape 5"/>
          <p:cNvSpPr/>
          <p:nvPr/>
        </p:nvSpPr>
        <p:spPr>
          <a:xfrm>
            <a:off x="777240" y="2304288"/>
            <a:ext cx="82296" cy="82296"/>
          </a:xfrm>
          <a:prstGeom prst="ellipse">
            <a:avLst/>
          </a:prstGeom>
          <a:solidFill>
            <a:srgbClr val="0E7C86"/>
          </a:solidFill>
          <a:ln/>
        </p:spPr>
      </p:sp>
      <p:sp>
        <p:nvSpPr>
          <p:cNvPr id="8" name="Text 6"/>
          <p:cNvSpPr/>
          <p:nvPr/>
        </p:nvSpPr>
        <p:spPr>
          <a:xfrm>
            <a:off x="960120" y="2185416"/>
            <a:ext cx="2926080" cy="594360"/>
          </a:xfrm>
          <a:prstGeom prst="rect">
            <a:avLst/>
          </a:prstGeom>
          <a:noFill/>
          <a:ln/>
        </p:spPr>
        <p:txBody>
          <a:bodyPr wrap="square" rtlCol="0" anchor="ctr"/>
          <a:lstStyle/>
          <a:p>
            <a:pPr marL="0" indent="0">
              <a:lnSpc>
                <a:spcPct val="110000"/>
              </a:lnSpc>
              <a:buNone/>
            </a:pPr>
            <a:r>
              <a:rPr lang="en-US" sz="1100" dirty="0">
                <a:solidFill>
                  <a:srgbClr val="1F2937"/>
                </a:solidFill>
                <a:latin typeface="Calibri" pitchFamily="34" charset="0"/>
                <a:ea typeface="Calibri" pitchFamily="34" charset="-122"/>
                <a:cs typeface="Calibri" pitchFamily="34" charset="-120"/>
              </a:rPr>
              <a:t>Union the two sales tables</a:t>
            </a:r>
            <a:endParaRPr lang="en-US" sz="1100" dirty="0"/>
          </a:p>
        </p:txBody>
      </p:sp>
      <p:sp>
        <p:nvSpPr>
          <p:cNvPr id="9" name="Shape 7"/>
          <p:cNvSpPr/>
          <p:nvPr/>
        </p:nvSpPr>
        <p:spPr>
          <a:xfrm>
            <a:off x="777240" y="2962656"/>
            <a:ext cx="82296" cy="82296"/>
          </a:xfrm>
          <a:prstGeom prst="ellipse">
            <a:avLst/>
          </a:prstGeom>
          <a:solidFill>
            <a:srgbClr val="0E7C86"/>
          </a:solidFill>
          <a:ln/>
        </p:spPr>
      </p:sp>
      <p:sp>
        <p:nvSpPr>
          <p:cNvPr id="10" name="Text 8"/>
          <p:cNvSpPr/>
          <p:nvPr/>
        </p:nvSpPr>
        <p:spPr>
          <a:xfrm>
            <a:off x="960120" y="2843784"/>
            <a:ext cx="2926080" cy="594360"/>
          </a:xfrm>
          <a:prstGeom prst="rect">
            <a:avLst/>
          </a:prstGeom>
          <a:noFill/>
          <a:ln/>
        </p:spPr>
        <p:txBody>
          <a:bodyPr wrap="square" rtlCol="0" anchor="ctr"/>
          <a:lstStyle/>
          <a:p>
            <a:pPr marL="0" indent="0">
              <a:lnSpc>
                <a:spcPct val="110000"/>
              </a:lnSpc>
              <a:buNone/>
            </a:pPr>
            <a:r>
              <a:rPr lang="en-US" sz="1100" dirty="0">
                <a:solidFill>
                  <a:srgbClr val="1F2937"/>
                </a:solidFill>
                <a:latin typeface="Calibri" pitchFamily="34" charset="0"/>
                <a:ea typeface="Calibri" pitchFamily="34" charset="-122"/>
                <a:cs typeface="Calibri" pitchFamily="34" charset="-120"/>
              </a:rPr>
              <a:t>Lookup Product Name, Customer Name &amp; Unit Price</a:t>
            </a:r>
            <a:endParaRPr lang="en-US" sz="1100" dirty="0"/>
          </a:p>
        </p:txBody>
      </p:sp>
      <p:sp>
        <p:nvSpPr>
          <p:cNvPr id="11" name="Shape 9"/>
          <p:cNvSpPr/>
          <p:nvPr/>
        </p:nvSpPr>
        <p:spPr>
          <a:xfrm>
            <a:off x="777240" y="3621024"/>
            <a:ext cx="82296" cy="82296"/>
          </a:xfrm>
          <a:prstGeom prst="ellipse">
            <a:avLst/>
          </a:prstGeom>
          <a:solidFill>
            <a:srgbClr val="0E7C86"/>
          </a:solidFill>
          <a:ln/>
        </p:spPr>
      </p:sp>
      <p:sp>
        <p:nvSpPr>
          <p:cNvPr id="12" name="Text 10"/>
          <p:cNvSpPr/>
          <p:nvPr/>
        </p:nvSpPr>
        <p:spPr>
          <a:xfrm>
            <a:off x="960120" y="3502152"/>
            <a:ext cx="2926080" cy="594360"/>
          </a:xfrm>
          <a:prstGeom prst="rect">
            <a:avLst/>
          </a:prstGeom>
          <a:noFill/>
          <a:ln/>
        </p:spPr>
        <p:txBody>
          <a:bodyPr wrap="square" rtlCol="0" anchor="ctr"/>
          <a:lstStyle/>
          <a:p>
            <a:pPr marL="0" indent="0">
              <a:lnSpc>
                <a:spcPct val="110000"/>
              </a:lnSpc>
              <a:buNone/>
            </a:pPr>
            <a:r>
              <a:rPr lang="en-US" sz="1100" dirty="0">
                <a:solidFill>
                  <a:srgbClr val="1F2937"/>
                </a:solidFill>
                <a:latin typeface="Calibri" pitchFamily="34" charset="0"/>
                <a:ea typeface="Calibri" pitchFamily="34" charset="-122"/>
                <a:cs typeface="Calibri" pitchFamily="34" charset="-120"/>
              </a:rPr>
              <a:t>Build Year / Month / Quarter / Financial-period fields</a:t>
            </a:r>
            <a:endParaRPr lang="en-US" sz="1100" dirty="0"/>
          </a:p>
        </p:txBody>
      </p:sp>
      <p:sp>
        <p:nvSpPr>
          <p:cNvPr id="13" name="Shape 11"/>
          <p:cNvSpPr/>
          <p:nvPr/>
        </p:nvSpPr>
        <p:spPr>
          <a:xfrm>
            <a:off x="777240" y="4279392"/>
            <a:ext cx="82296" cy="82296"/>
          </a:xfrm>
          <a:prstGeom prst="ellipse">
            <a:avLst/>
          </a:prstGeom>
          <a:solidFill>
            <a:srgbClr val="0E7C86"/>
          </a:solidFill>
          <a:ln/>
        </p:spPr>
      </p:sp>
      <p:sp>
        <p:nvSpPr>
          <p:cNvPr id="14" name="Text 12"/>
          <p:cNvSpPr/>
          <p:nvPr/>
        </p:nvSpPr>
        <p:spPr>
          <a:xfrm>
            <a:off x="960120" y="4160520"/>
            <a:ext cx="2926080" cy="594360"/>
          </a:xfrm>
          <a:prstGeom prst="rect">
            <a:avLst/>
          </a:prstGeom>
          <a:noFill/>
          <a:ln/>
        </p:spPr>
        <p:txBody>
          <a:bodyPr wrap="square" rtlCol="0" anchor="ctr"/>
          <a:lstStyle/>
          <a:p>
            <a:pPr marL="0" indent="0">
              <a:lnSpc>
                <a:spcPct val="110000"/>
              </a:lnSpc>
              <a:buNone/>
            </a:pPr>
            <a:r>
              <a:rPr lang="en-US" sz="1100" dirty="0">
                <a:solidFill>
                  <a:srgbClr val="1F2937"/>
                </a:solidFill>
                <a:latin typeface="Calibri" pitchFamily="34" charset="0"/>
                <a:ea typeface="Calibri" pitchFamily="34" charset="-122"/>
                <a:cs typeface="Calibri" pitchFamily="34" charset="-120"/>
              </a:rPr>
              <a:t>Calculate Sales Amount, Production Cost &amp; Profit</a:t>
            </a:r>
            <a:endParaRPr lang="en-US" sz="1100" dirty="0"/>
          </a:p>
        </p:txBody>
      </p:sp>
      <p:sp>
        <p:nvSpPr>
          <p:cNvPr id="15" name="Shape 13"/>
          <p:cNvSpPr/>
          <p:nvPr/>
        </p:nvSpPr>
        <p:spPr>
          <a:xfrm>
            <a:off x="4343400" y="1463040"/>
            <a:ext cx="3520440" cy="4480560"/>
          </a:xfrm>
          <a:prstGeom prst="roundRect">
            <a:avLst>
              <a:gd name="adj" fmla="val 1818"/>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16" name="Shape 14"/>
          <p:cNvSpPr/>
          <p:nvPr/>
        </p:nvSpPr>
        <p:spPr>
          <a:xfrm>
            <a:off x="4343400" y="1463040"/>
            <a:ext cx="3520440" cy="566928"/>
          </a:xfrm>
          <a:prstGeom prst="rect">
            <a:avLst/>
          </a:prstGeom>
          <a:solidFill>
            <a:srgbClr val="E8871E"/>
          </a:solidFill>
          <a:ln/>
        </p:spPr>
      </p:sp>
      <p:sp>
        <p:nvSpPr>
          <p:cNvPr id="17" name="Text 15"/>
          <p:cNvSpPr/>
          <p:nvPr/>
        </p:nvSpPr>
        <p:spPr>
          <a:xfrm>
            <a:off x="4526280" y="1463040"/>
            <a:ext cx="3154680" cy="566928"/>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Visual Analysis</a:t>
            </a:r>
            <a:endParaRPr lang="en-US" sz="1400" dirty="0"/>
          </a:p>
        </p:txBody>
      </p:sp>
      <p:sp>
        <p:nvSpPr>
          <p:cNvPr id="18" name="Shape 16"/>
          <p:cNvSpPr/>
          <p:nvPr/>
        </p:nvSpPr>
        <p:spPr>
          <a:xfrm>
            <a:off x="4572000" y="2304288"/>
            <a:ext cx="82296" cy="82296"/>
          </a:xfrm>
          <a:prstGeom prst="ellipse">
            <a:avLst/>
          </a:prstGeom>
          <a:solidFill>
            <a:srgbClr val="E8871E"/>
          </a:solidFill>
          <a:ln/>
        </p:spPr>
      </p:sp>
      <p:sp>
        <p:nvSpPr>
          <p:cNvPr id="19" name="Text 17"/>
          <p:cNvSpPr/>
          <p:nvPr/>
        </p:nvSpPr>
        <p:spPr>
          <a:xfrm>
            <a:off x="4754880" y="2185416"/>
            <a:ext cx="2926080" cy="594360"/>
          </a:xfrm>
          <a:prstGeom prst="rect">
            <a:avLst/>
          </a:prstGeom>
          <a:noFill/>
          <a:ln/>
        </p:spPr>
        <p:txBody>
          <a:bodyPr wrap="square" rtlCol="0" anchor="ctr"/>
          <a:lstStyle/>
          <a:p>
            <a:pPr marL="0" indent="0">
              <a:lnSpc>
                <a:spcPct val="110000"/>
              </a:lnSpc>
              <a:buNone/>
            </a:pPr>
            <a:r>
              <a:rPr lang="en-US" sz="1100" dirty="0">
                <a:solidFill>
                  <a:srgbClr val="1F2937"/>
                </a:solidFill>
                <a:latin typeface="Calibri" pitchFamily="34" charset="0"/>
                <a:ea typeface="Calibri" pitchFamily="34" charset="-122"/>
                <a:cs typeface="Calibri" pitchFamily="34" charset="-120"/>
              </a:rPr>
              <a:t>Pivot table: month-wise sales, filtered by Year</a:t>
            </a:r>
            <a:endParaRPr lang="en-US" sz="1100" dirty="0"/>
          </a:p>
        </p:txBody>
      </p:sp>
      <p:sp>
        <p:nvSpPr>
          <p:cNvPr id="20" name="Shape 18"/>
          <p:cNvSpPr/>
          <p:nvPr/>
        </p:nvSpPr>
        <p:spPr>
          <a:xfrm>
            <a:off x="4572000" y="2962656"/>
            <a:ext cx="82296" cy="82296"/>
          </a:xfrm>
          <a:prstGeom prst="ellipse">
            <a:avLst/>
          </a:prstGeom>
          <a:solidFill>
            <a:srgbClr val="E8871E"/>
          </a:solidFill>
          <a:ln/>
        </p:spPr>
      </p:sp>
      <p:sp>
        <p:nvSpPr>
          <p:cNvPr id="21" name="Text 19"/>
          <p:cNvSpPr/>
          <p:nvPr/>
        </p:nvSpPr>
        <p:spPr>
          <a:xfrm>
            <a:off x="4754880" y="2843784"/>
            <a:ext cx="2926080" cy="594360"/>
          </a:xfrm>
          <a:prstGeom prst="rect">
            <a:avLst/>
          </a:prstGeom>
          <a:noFill/>
          <a:ln/>
        </p:spPr>
        <p:txBody>
          <a:bodyPr wrap="square" rtlCol="0" anchor="ctr"/>
          <a:lstStyle/>
          <a:p>
            <a:pPr marL="0" indent="0">
              <a:lnSpc>
                <a:spcPct val="110000"/>
              </a:lnSpc>
              <a:buNone/>
            </a:pPr>
            <a:r>
              <a:rPr lang="en-US" sz="1100" dirty="0">
                <a:solidFill>
                  <a:srgbClr val="1F2937"/>
                </a:solidFill>
                <a:latin typeface="Calibri" pitchFamily="34" charset="0"/>
                <a:ea typeface="Calibri" pitchFamily="34" charset="-122"/>
                <a:cs typeface="Calibri" pitchFamily="34" charset="-120"/>
              </a:rPr>
              <a:t>Bar chart — year-wise sales</a:t>
            </a:r>
            <a:endParaRPr lang="en-US" sz="1100" dirty="0"/>
          </a:p>
        </p:txBody>
      </p:sp>
      <p:sp>
        <p:nvSpPr>
          <p:cNvPr id="22" name="Shape 20"/>
          <p:cNvSpPr/>
          <p:nvPr/>
        </p:nvSpPr>
        <p:spPr>
          <a:xfrm>
            <a:off x="4572000" y="3621024"/>
            <a:ext cx="82296" cy="82296"/>
          </a:xfrm>
          <a:prstGeom prst="ellipse">
            <a:avLst/>
          </a:prstGeom>
          <a:solidFill>
            <a:srgbClr val="E8871E"/>
          </a:solidFill>
          <a:ln/>
        </p:spPr>
      </p:sp>
      <p:sp>
        <p:nvSpPr>
          <p:cNvPr id="23" name="Text 21"/>
          <p:cNvSpPr/>
          <p:nvPr/>
        </p:nvSpPr>
        <p:spPr>
          <a:xfrm>
            <a:off x="4754880" y="3502152"/>
            <a:ext cx="2926080" cy="594360"/>
          </a:xfrm>
          <a:prstGeom prst="rect">
            <a:avLst/>
          </a:prstGeom>
          <a:noFill/>
          <a:ln/>
        </p:spPr>
        <p:txBody>
          <a:bodyPr wrap="square" rtlCol="0" anchor="ctr"/>
          <a:lstStyle/>
          <a:p>
            <a:pPr marL="0" indent="0">
              <a:lnSpc>
                <a:spcPct val="110000"/>
              </a:lnSpc>
              <a:buNone/>
            </a:pPr>
            <a:r>
              <a:rPr lang="en-US" sz="1100" dirty="0">
                <a:solidFill>
                  <a:srgbClr val="1F2937"/>
                </a:solidFill>
                <a:latin typeface="Calibri" pitchFamily="34" charset="0"/>
                <a:ea typeface="Calibri" pitchFamily="34" charset="-122"/>
                <a:cs typeface="Calibri" pitchFamily="34" charset="-120"/>
              </a:rPr>
              <a:t>Line chart — month-wise sales</a:t>
            </a:r>
            <a:endParaRPr lang="en-US" sz="1100" dirty="0"/>
          </a:p>
        </p:txBody>
      </p:sp>
      <p:sp>
        <p:nvSpPr>
          <p:cNvPr id="24" name="Shape 22"/>
          <p:cNvSpPr/>
          <p:nvPr/>
        </p:nvSpPr>
        <p:spPr>
          <a:xfrm>
            <a:off x="4572000" y="4279392"/>
            <a:ext cx="82296" cy="82296"/>
          </a:xfrm>
          <a:prstGeom prst="ellipse">
            <a:avLst/>
          </a:prstGeom>
          <a:solidFill>
            <a:srgbClr val="E8871E"/>
          </a:solidFill>
          <a:ln/>
        </p:spPr>
      </p:sp>
      <p:sp>
        <p:nvSpPr>
          <p:cNvPr id="25" name="Text 23"/>
          <p:cNvSpPr/>
          <p:nvPr/>
        </p:nvSpPr>
        <p:spPr>
          <a:xfrm>
            <a:off x="4754880" y="4160520"/>
            <a:ext cx="2926080" cy="594360"/>
          </a:xfrm>
          <a:prstGeom prst="rect">
            <a:avLst/>
          </a:prstGeom>
          <a:noFill/>
          <a:ln/>
        </p:spPr>
        <p:txBody>
          <a:bodyPr wrap="square" rtlCol="0" anchor="ctr"/>
          <a:lstStyle/>
          <a:p>
            <a:pPr marL="0" indent="0">
              <a:lnSpc>
                <a:spcPct val="110000"/>
              </a:lnSpc>
              <a:buNone/>
            </a:pPr>
            <a:r>
              <a:rPr lang="en-US" sz="1100" dirty="0">
                <a:solidFill>
                  <a:srgbClr val="1F2937"/>
                </a:solidFill>
                <a:latin typeface="Calibri" pitchFamily="34" charset="0"/>
                <a:ea typeface="Calibri" pitchFamily="34" charset="-122"/>
                <a:cs typeface="Calibri" pitchFamily="34" charset="-120"/>
              </a:rPr>
              <a:t>Pie chart — quarter-wise sales</a:t>
            </a:r>
            <a:endParaRPr lang="en-US" sz="1100" dirty="0"/>
          </a:p>
        </p:txBody>
      </p:sp>
      <p:sp>
        <p:nvSpPr>
          <p:cNvPr id="26" name="Shape 24"/>
          <p:cNvSpPr/>
          <p:nvPr/>
        </p:nvSpPr>
        <p:spPr>
          <a:xfrm>
            <a:off x="4572000" y="4937760"/>
            <a:ext cx="82296" cy="82296"/>
          </a:xfrm>
          <a:prstGeom prst="ellipse">
            <a:avLst/>
          </a:prstGeom>
          <a:solidFill>
            <a:srgbClr val="E8871E"/>
          </a:solidFill>
          <a:ln/>
        </p:spPr>
      </p:sp>
      <p:sp>
        <p:nvSpPr>
          <p:cNvPr id="27" name="Text 25"/>
          <p:cNvSpPr/>
          <p:nvPr/>
        </p:nvSpPr>
        <p:spPr>
          <a:xfrm>
            <a:off x="4754880" y="4818888"/>
            <a:ext cx="2926080" cy="594360"/>
          </a:xfrm>
          <a:prstGeom prst="rect">
            <a:avLst/>
          </a:prstGeom>
          <a:noFill/>
          <a:ln/>
        </p:spPr>
        <p:txBody>
          <a:bodyPr wrap="square" rtlCol="0" anchor="ctr"/>
          <a:lstStyle/>
          <a:p>
            <a:pPr marL="0" indent="0">
              <a:lnSpc>
                <a:spcPct val="110000"/>
              </a:lnSpc>
              <a:buNone/>
            </a:pPr>
            <a:r>
              <a:rPr lang="en-US" sz="1100" dirty="0">
                <a:solidFill>
                  <a:srgbClr val="1F2937"/>
                </a:solidFill>
                <a:latin typeface="Calibri" pitchFamily="34" charset="0"/>
                <a:ea typeface="Calibri" pitchFamily="34" charset="-122"/>
                <a:cs typeface="Calibri" pitchFamily="34" charset="-120"/>
              </a:rPr>
              <a:t>Combo chart — Sales Amount vs Production Cost</a:t>
            </a:r>
            <a:endParaRPr lang="en-US" sz="1100" dirty="0"/>
          </a:p>
        </p:txBody>
      </p:sp>
      <p:sp>
        <p:nvSpPr>
          <p:cNvPr id="28" name="Shape 26"/>
          <p:cNvSpPr/>
          <p:nvPr/>
        </p:nvSpPr>
        <p:spPr>
          <a:xfrm>
            <a:off x="8138160" y="1463040"/>
            <a:ext cx="3520440" cy="4480560"/>
          </a:xfrm>
          <a:prstGeom prst="roundRect">
            <a:avLst>
              <a:gd name="adj" fmla="val 1818"/>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29" name="Shape 27"/>
          <p:cNvSpPr/>
          <p:nvPr/>
        </p:nvSpPr>
        <p:spPr>
          <a:xfrm>
            <a:off x="8138160" y="1463040"/>
            <a:ext cx="3520440" cy="566928"/>
          </a:xfrm>
          <a:prstGeom prst="rect">
            <a:avLst/>
          </a:prstGeom>
          <a:solidFill>
            <a:srgbClr val="142850"/>
          </a:solidFill>
          <a:ln/>
        </p:spPr>
      </p:sp>
      <p:sp>
        <p:nvSpPr>
          <p:cNvPr id="30" name="Text 28"/>
          <p:cNvSpPr/>
          <p:nvPr/>
        </p:nvSpPr>
        <p:spPr>
          <a:xfrm>
            <a:off x="8321040" y="1463040"/>
            <a:ext cx="3154680" cy="566928"/>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KPIs &amp; Dashboard</a:t>
            </a:r>
            <a:endParaRPr lang="en-US" sz="1400" dirty="0"/>
          </a:p>
        </p:txBody>
      </p:sp>
      <p:sp>
        <p:nvSpPr>
          <p:cNvPr id="31" name="Shape 29"/>
          <p:cNvSpPr/>
          <p:nvPr/>
        </p:nvSpPr>
        <p:spPr>
          <a:xfrm>
            <a:off x="8366760" y="2304288"/>
            <a:ext cx="82296" cy="82296"/>
          </a:xfrm>
          <a:prstGeom prst="ellipse">
            <a:avLst/>
          </a:prstGeom>
          <a:solidFill>
            <a:srgbClr val="142850"/>
          </a:solidFill>
          <a:ln/>
        </p:spPr>
      </p:sp>
      <p:sp>
        <p:nvSpPr>
          <p:cNvPr id="32" name="Text 30"/>
          <p:cNvSpPr/>
          <p:nvPr/>
        </p:nvSpPr>
        <p:spPr>
          <a:xfrm>
            <a:off x="8549640" y="2185416"/>
            <a:ext cx="2926080" cy="594360"/>
          </a:xfrm>
          <a:prstGeom prst="rect">
            <a:avLst/>
          </a:prstGeom>
          <a:noFill/>
          <a:ln/>
        </p:spPr>
        <p:txBody>
          <a:bodyPr wrap="square" rtlCol="0" anchor="ctr"/>
          <a:lstStyle/>
          <a:p>
            <a:pPr marL="0" indent="0">
              <a:lnSpc>
                <a:spcPct val="110000"/>
              </a:lnSpc>
              <a:buNone/>
            </a:pPr>
            <a:r>
              <a:rPr lang="en-US" sz="1100" dirty="0">
                <a:solidFill>
                  <a:srgbClr val="1F2937"/>
                </a:solidFill>
                <a:latin typeface="Calibri" pitchFamily="34" charset="0"/>
                <a:ea typeface="Calibri" pitchFamily="34" charset="-122"/>
                <a:cs typeface="Calibri" pitchFamily="34" charset="-120"/>
              </a:rPr>
              <a:t>Additional KPIs by Product, Customer &amp; Region</a:t>
            </a:r>
            <a:endParaRPr lang="en-US" sz="1100" dirty="0"/>
          </a:p>
        </p:txBody>
      </p:sp>
      <p:sp>
        <p:nvSpPr>
          <p:cNvPr id="33" name="Shape 31"/>
          <p:cNvSpPr/>
          <p:nvPr/>
        </p:nvSpPr>
        <p:spPr>
          <a:xfrm>
            <a:off x="8366760" y="2962656"/>
            <a:ext cx="82296" cy="82296"/>
          </a:xfrm>
          <a:prstGeom prst="ellipse">
            <a:avLst/>
          </a:prstGeom>
          <a:solidFill>
            <a:srgbClr val="142850"/>
          </a:solidFill>
          <a:ln/>
        </p:spPr>
      </p:sp>
      <p:sp>
        <p:nvSpPr>
          <p:cNvPr id="34" name="Text 32"/>
          <p:cNvSpPr/>
          <p:nvPr/>
        </p:nvSpPr>
        <p:spPr>
          <a:xfrm>
            <a:off x="8549640" y="2843784"/>
            <a:ext cx="2926080" cy="594360"/>
          </a:xfrm>
          <a:prstGeom prst="rect">
            <a:avLst/>
          </a:prstGeom>
          <a:noFill/>
          <a:ln/>
        </p:spPr>
        <p:txBody>
          <a:bodyPr wrap="square" rtlCol="0" anchor="ctr"/>
          <a:lstStyle/>
          <a:p>
            <a:pPr marL="0" indent="0">
              <a:lnSpc>
                <a:spcPct val="110000"/>
              </a:lnSpc>
              <a:buNone/>
            </a:pPr>
            <a:r>
              <a:rPr lang="en-US" sz="1100" dirty="0">
                <a:solidFill>
                  <a:srgbClr val="1F2937"/>
                </a:solidFill>
                <a:latin typeface="Calibri" pitchFamily="34" charset="0"/>
                <a:ea typeface="Calibri" pitchFamily="34" charset="-122"/>
                <a:cs typeface="Calibri" pitchFamily="34" charset="-120"/>
              </a:rPr>
              <a:t>One or more consolidated dashboards</a:t>
            </a:r>
            <a:endParaRPr lang="en-US" sz="1100" dirty="0"/>
          </a:p>
        </p:txBody>
      </p:sp>
      <p:sp>
        <p:nvSpPr>
          <p:cNvPr id="35" name="Text 33"/>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36" name="Text 34"/>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SQL ANALYSIS</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MySQL Workbench — rebuilding the workflow in SQL</a:t>
            </a:r>
            <a:endParaRPr lang="en-US" sz="1300" dirty="0"/>
          </a:p>
        </p:txBody>
      </p:sp>
      <p:sp>
        <p:nvSpPr>
          <p:cNvPr id="4" name="Shape 2"/>
          <p:cNvSpPr/>
          <p:nvPr/>
        </p:nvSpPr>
        <p:spPr>
          <a:xfrm>
            <a:off x="548640" y="1417320"/>
            <a:ext cx="11064240" cy="777240"/>
          </a:xfrm>
          <a:prstGeom prst="roundRect">
            <a:avLst>
              <a:gd name="adj" fmla="val 7059"/>
            </a:avLst>
          </a:prstGeom>
          <a:solidFill>
            <a:srgbClr val="142850"/>
          </a:solidFill>
          <a:ln/>
        </p:spPr>
      </p:sp>
      <p:sp>
        <p:nvSpPr>
          <p:cNvPr id="5" name="Text 3"/>
          <p:cNvSpPr/>
          <p:nvPr/>
        </p:nvSpPr>
        <p:spPr>
          <a:xfrm>
            <a:off x="777240" y="1417320"/>
            <a:ext cx="10607040" cy="777240"/>
          </a:xfrm>
          <a:prstGeom prst="rect">
            <a:avLst/>
          </a:prstGeom>
          <a:noFill/>
          <a:ln/>
        </p:spPr>
        <p:txBody>
          <a:bodyPr wrap="square" rtlCol="0" anchor="ctr"/>
          <a:lstStyle/>
          <a:p>
            <a:pPr marL="0" indent="0">
              <a:buNone/>
            </a:pPr>
            <a:r>
              <a:rPr lang="en-US" sz="1200" b="1" dirty="0">
                <a:solidFill>
                  <a:srgbClr val="E8871E"/>
                </a:solidFill>
                <a:latin typeface="Courier New" pitchFamily="34" charset="0"/>
                <a:ea typeface="Courier New" pitchFamily="34" charset="-122"/>
                <a:cs typeface="Courier New" pitchFamily="34" charset="-120"/>
              </a:rPr>
              <a:t>CREATE OR REPLACE VIEW </a:t>
            </a:r>
            <a:r>
              <a:rPr lang="en-US" sz="1200" dirty="0">
                <a:solidFill>
                  <a:srgbClr val="FFFFFF"/>
                </a:solidFill>
                <a:latin typeface="Courier New" pitchFamily="34" charset="0"/>
                <a:ea typeface="Courier New" pitchFamily="34" charset="-122"/>
                <a:cs typeface="Courier New" pitchFamily="34" charset="-120"/>
              </a:rPr>
              <a:t>v_UnionedSales AS  SELECT * FROM factinternetsales  UNION ALL  SELECT * FROM factinternetsalesnew;</a:t>
            </a:r>
            <a:endParaRPr lang="en-US" sz="1200" dirty="0"/>
          </a:p>
        </p:txBody>
      </p:sp>
      <p:sp>
        <p:nvSpPr>
          <p:cNvPr id="6" name="Shape 4"/>
          <p:cNvSpPr/>
          <p:nvPr/>
        </p:nvSpPr>
        <p:spPr>
          <a:xfrm>
            <a:off x="548640" y="2423160"/>
            <a:ext cx="2651760" cy="356616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7" name="Shape 5"/>
          <p:cNvSpPr/>
          <p:nvPr/>
        </p:nvSpPr>
        <p:spPr>
          <a:xfrm>
            <a:off x="548640" y="2423160"/>
            <a:ext cx="2651760" cy="502920"/>
          </a:xfrm>
          <a:prstGeom prst="rect">
            <a:avLst/>
          </a:prstGeom>
          <a:solidFill>
            <a:srgbClr val="0E7C86"/>
          </a:solidFill>
          <a:ln/>
        </p:spPr>
      </p:sp>
      <p:sp>
        <p:nvSpPr>
          <p:cNvPr id="8" name="Text 6"/>
          <p:cNvSpPr/>
          <p:nvPr/>
        </p:nvSpPr>
        <p:spPr>
          <a:xfrm>
            <a:off x="685800" y="2423160"/>
            <a:ext cx="2377440" cy="502920"/>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Data Foundation</a:t>
            </a:r>
            <a:endParaRPr lang="en-US" sz="1250" dirty="0"/>
          </a:p>
        </p:txBody>
      </p:sp>
      <p:sp>
        <p:nvSpPr>
          <p:cNvPr id="9" name="Shape 7"/>
          <p:cNvSpPr/>
          <p:nvPr/>
        </p:nvSpPr>
        <p:spPr>
          <a:xfrm>
            <a:off x="731520" y="3163824"/>
            <a:ext cx="73152" cy="73152"/>
          </a:xfrm>
          <a:prstGeom prst="ellipse">
            <a:avLst/>
          </a:prstGeom>
          <a:solidFill>
            <a:srgbClr val="0E7C86"/>
          </a:solidFill>
          <a:ln/>
        </p:spPr>
      </p:sp>
      <p:sp>
        <p:nvSpPr>
          <p:cNvPr id="10" name="Text 8"/>
          <p:cNvSpPr/>
          <p:nvPr/>
        </p:nvSpPr>
        <p:spPr>
          <a:xfrm>
            <a:off x="896112" y="303580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Union FactInternetSales + FactInternetSalesNew into v_UnionedSales</a:t>
            </a:r>
            <a:endParaRPr lang="en-US" sz="950" dirty="0"/>
          </a:p>
        </p:txBody>
      </p:sp>
      <p:sp>
        <p:nvSpPr>
          <p:cNvPr id="11" name="Shape 9"/>
          <p:cNvSpPr/>
          <p:nvPr/>
        </p:nvSpPr>
        <p:spPr>
          <a:xfrm>
            <a:off x="731520" y="3941064"/>
            <a:ext cx="73152" cy="73152"/>
          </a:xfrm>
          <a:prstGeom prst="ellipse">
            <a:avLst/>
          </a:prstGeom>
          <a:solidFill>
            <a:srgbClr val="0E7C86"/>
          </a:solidFill>
          <a:ln/>
        </p:spPr>
      </p:sp>
      <p:sp>
        <p:nvSpPr>
          <p:cNvPr id="12" name="Text 10"/>
          <p:cNvSpPr/>
          <p:nvPr/>
        </p:nvSpPr>
        <p:spPr>
          <a:xfrm>
            <a:off x="896112" y="381304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Lookup ProductName from DimProduct</a:t>
            </a:r>
            <a:endParaRPr lang="en-US" sz="950" dirty="0"/>
          </a:p>
        </p:txBody>
      </p:sp>
      <p:sp>
        <p:nvSpPr>
          <p:cNvPr id="13" name="Shape 11"/>
          <p:cNvSpPr/>
          <p:nvPr/>
        </p:nvSpPr>
        <p:spPr>
          <a:xfrm>
            <a:off x="731520" y="4718304"/>
            <a:ext cx="73152" cy="73152"/>
          </a:xfrm>
          <a:prstGeom prst="ellipse">
            <a:avLst/>
          </a:prstGeom>
          <a:solidFill>
            <a:srgbClr val="0E7C86"/>
          </a:solidFill>
          <a:ln/>
        </p:spPr>
      </p:sp>
      <p:sp>
        <p:nvSpPr>
          <p:cNvPr id="14" name="Text 12"/>
          <p:cNvSpPr/>
          <p:nvPr/>
        </p:nvSpPr>
        <p:spPr>
          <a:xfrm>
            <a:off x="896112" y="459028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Lookup CustomerFullName &amp; Unit Price</a:t>
            </a:r>
            <a:endParaRPr lang="en-US" sz="950" dirty="0"/>
          </a:p>
        </p:txBody>
      </p:sp>
      <p:sp>
        <p:nvSpPr>
          <p:cNvPr id="15" name="Shape 13"/>
          <p:cNvSpPr/>
          <p:nvPr/>
        </p:nvSpPr>
        <p:spPr>
          <a:xfrm>
            <a:off x="3401568" y="2423160"/>
            <a:ext cx="2651760" cy="356616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16" name="Shape 14"/>
          <p:cNvSpPr/>
          <p:nvPr/>
        </p:nvSpPr>
        <p:spPr>
          <a:xfrm>
            <a:off x="3401568" y="2423160"/>
            <a:ext cx="2651760" cy="502920"/>
          </a:xfrm>
          <a:prstGeom prst="rect">
            <a:avLst/>
          </a:prstGeom>
          <a:solidFill>
            <a:srgbClr val="E8871E"/>
          </a:solidFill>
          <a:ln/>
        </p:spPr>
      </p:sp>
      <p:sp>
        <p:nvSpPr>
          <p:cNvPr id="17" name="Text 15"/>
          <p:cNvSpPr/>
          <p:nvPr/>
        </p:nvSpPr>
        <p:spPr>
          <a:xfrm>
            <a:off x="3538728" y="2423160"/>
            <a:ext cx="2377440" cy="502920"/>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Calculated Fields</a:t>
            </a:r>
            <a:endParaRPr lang="en-US" sz="1250" dirty="0"/>
          </a:p>
        </p:txBody>
      </p:sp>
      <p:sp>
        <p:nvSpPr>
          <p:cNvPr id="18" name="Shape 16"/>
          <p:cNvSpPr/>
          <p:nvPr/>
        </p:nvSpPr>
        <p:spPr>
          <a:xfrm>
            <a:off x="3584448" y="3163824"/>
            <a:ext cx="73152" cy="73152"/>
          </a:xfrm>
          <a:prstGeom prst="ellipse">
            <a:avLst/>
          </a:prstGeom>
          <a:solidFill>
            <a:srgbClr val="E8871E"/>
          </a:solidFill>
          <a:ln/>
        </p:spPr>
      </p:sp>
      <p:sp>
        <p:nvSpPr>
          <p:cNvPr id="19" name="Text 17"/>
          <p:cNvSpPr/>
          <p:nvPr/>
        </p:nvSpPr>
        <p:spPr>
          <a:xfrm>
            <a:off x="3749040" y="303580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Date parts from OrderDateKey (Year, Month, Quarter, Weekday, Financial Month/Qtr)</a:t>
            </a:r>
            <a:endParaRPr lang="en-US" sz="950" dirty="0"/>
          </a:p>
        </p:txBody>
      </p:sp>
      <p:sp>
        <p:nvSpPr>
          <p:cNvPr id="20" name="Shape 18"/>
          <p:cNvSpPr/>
          <p:nvPr/>
        </p:nvSpPr>
        <p:spPr>
          <a:xfrm>
            <a:off x="3584448" y="3941064"/>
            <a:ext cx="73152" cy="73152"/>
          </a:xfrm>
          <a:prstGeom prst="ellipse">
            <a:avLst/>
          </a:prstGeom>
          <a:solidFill>
            <a:srgbClr val="E8871E"/>
          </a:solidFill>
          <a:ln/>
        </p:spPr>
      </p:sp>
      <p:sp>
        <p:nvSpPr>
          <p:cNvPr id="21" name="Text 19"/>
          <p:cNvSpPr/>
          <p:nvPr/>
        </p:nvSpPr>
        <p:spPr>
          <a:xfrm>
            <a:off x="3749040" y="381304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Sales Amount = Price × Qty × (1 − Discount)</a:t>
            </a:r>
            <a:endParaRPr lang="en-US" sz="950" dirty="0"/>
          </a:p>
        </p:txBody>
      </p:sp>
      <p:sp>
        <p:nvSpPr>
          <p:cNvPr id="22" name="Shape 20"/>
          <p:cNvSpPr/>
          <p:nvPr/>
        </p:nvSpPr>
        <p:spPr>
          <a:xfrm>
            <a:off x="3584448" y="4718304"/>
            <a:ext cx="73152" cy="73152"/>
          </a:xfrm>
          <a:prstGeom prst="ellipse">
            <a:avLst/>
          </a:prstGeom>
          <a:solidFill>
            <a:srgbClr val="E8871E"/>
          </a:solidFill>
          <a:ln/>
        </p:spPr>
      </p:sp>
      <p:sp>
        <p:nvSpPr>
          <p:cNvPr id="23" name="Text 21"/>
          <p:cNvSpPr/>
          <p:nvPr/>
        </p:nvSpPr>
        <p:spPr>
          <a:xfrm>
            <a:off x="3749040" y="459028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Production Cost &amp; Profit</a:t>
            </a:r>
            <a:endParaRPr lang="en-US" sz="950" dirty="0"/>
          </a:p>
        </p:txBody>
      </p:sp>
      <p:sp>
        <p:nvSpPr>
          <p:cNvPr id="24" name="Shape 22"/>
          <p:cNvSpPr/>
          <p:nvPr/>
        </p:nvSpPr>
        <p:spPr>
          <a:xfrm>
            <a:off x="6254496" y="2423160"/>
            <a:ext cx="2651760" cy="356616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25" name="Shape 23"/>
          <p:cNvSpPr/>
          <p:nvPr/>
        </p:nvSpPr>
        <p:spPr>
          <a:xfrm>
            <a:off x="6254496" y="2423160"/>
            <a:ext cx="2651760" cy="502920"/>
          </a:xfrm>
          <a:prstGeom prst="rect">
            <a:avLst/>
          </a:prstGeom>
          <a:solidFill>
            <a:srgbClr val="142850"/>
          </a:solidFill>
          <a:ln/>
        </p:spPr>
      </p:sp>
      <p:sp>
        <p:nvSpPr>
          <p:cNvPr id="26" name="Text 24"/>
          <p:cNvSpPr/>
          <p:nvPr/>
        </p:nvSpPr>
        <p:spPr>
          <a:xfrm>
            <a:off x="6391656" y="2423160"/>
            <a:ext cx="2377440" cy="502920"/>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Chart-Ready Queries</a:t>
            </a:r>
            <a:endParaRPr lang="en-US" sz="1250" dirty="0"/>
          </a:p>
        </p:txBody>
      </p:sp>
      <p:sp>
        <p:nvSpPr>
          <p:cNvPr id="27" name="Shape 25"/>
          <p:cNvSpPr/>
          <p:nvPr/>
        </p:nvSpPr>
        <p:spPr>
          <a:xfrm>
            <a:off x="6437376" y="3163824"/>
            <a:ext cx="73152" cy="73152"/>
          </a:xfrm>
          <a:prstGeom prst="ellipse">
            <a:avLst/>
          </a:prstGeom>
          <a:solidFill>
            <a:srgbClr val="142850"/>
          </a:solidFill>
          <a:ln/>
        </p:spPr>
      </p:sp>
      <p:sp>
        <p:nvSpPr>
          <p:cNvPr id="28" name="Text 26"/>
          <p:cNvSpPr/>
          <p:nvPr/>
        </p:nvSpPr>
        <p:spPr>
          <a:xfrm>
            <a:off x="6601968" y="303580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Monthly pivot filtered by Year</a:t>
            </a:r>
            <a:endParaRPr lang="en-US" sz="950" dirty="0"/>
          </a:p>
        </p:txBody>
      </p:sp>
      <p:sp>
        <p:nvSpPr>
          <p:cNvPr id="29" name="Shape 27"/>
          <p:cNvSpPr/>
          <p:nvPr/>
        </p:nvSpPr>
        <p:spPr>
          <a:xfrm>
            <a:off x="6437376" y="3941064"/>
            <a:ext cx="73152" cy="73152"/>
          </a:xfrm>
          <a:prstGeom prst="ellipse">
            <a:avLst/>
          </a:prstGeom>
          <a:solidFill>
            <a:srgbClr val="142850"/>
          </a:solidFill>
          <a:ln/>
        </p:spPr>
      </p:sp>
      <p:sp>
        <p:nvSpPr>
          <p:cNvPr id="30" name="Text 28"/>
          <p:cNvSpPr/>
          <p:nvPr/>
        </p:nvSpPr>
        <p:spPr>
          <a:xfrm>
            <a:off x="6601968" y="381304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Year-wise &amp; month-wise sales</a:t>
            </a:r>
            <a:endParaRPr lang="en-US" sz="950" dirty="0"/>
          </a:p>
        </p:txBody>
      </p:sp>
      <p:sp>
        <p:nvSpPr>
          <p:cNvPr id="31" name="Shape 29"/>
          <p:cNvSpPr/>
          <p:nvPr/>
        </p:nvSpPr>
        <p:spPr>
          <a:xfrm>
            <a:off x="6437376" y="4718304"/>
            <a:ext cx="73152" cy="73152"/>
          </a:xfrm>
          <a:prstGeom prst="ellipse">
            <a:avLst/>
          </a:prstGeom>
          <a:solidFill>
            <a:srgbClr val="142850"/>
          </a:solidFill>
          <a:ln/>
        </p:spPr>
      </p:sp>
      <p:sp>
        <p:nvSpPr>
          <p:cNvPr id="32" name="Text 30"/>
          <p:cNvSpPr/>
          <p:nvPr/>
        </p:nvSpPr>
        <p:spPr>
          <a:xfrm>
            <a:off x="6601968" y="459028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Quarter-wise sales</a:t>
            </a:r>
            <a:endParaRPr lang="en-US" sz="950" dirty="0"/>
          </a:p>
        </p:txBody>
      </p:sp>
      <p:sp>
        <p:nvSpPr>
          <p:cNvPr id="33" name="Shape 31"/>
          <p:cNvSpPr/>
          <p:nvPr/>
        </p:nvSpPr>
        <p:spPr>
          <a:xfrm>
            <a:off x="6437376" y="5495544"/>
            <a:ext cx="73152" cy="73152"/>
          </a:xfrm>
          <a:prstGeom prst="ellipse">
            <a:avLst/>
          </a:prstGeom>
          <a:solidFill>
            <a:srgbClr val="142850"/>
          </a:solidFill>
          <a:ln/>
        </p:spPr>
      </p:sp>
      <p:sp>
        <p:nvSpPr>
          <p:cNvPr id="34" name="Text 32"/>
          <p:cNvSpPr/>
          <p:nvPr/>
        </p:nvSpPr>
        <p:spPr>
          <a:xfrm>
            <a:off x="6601968" y="536752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Combo: Sales Amount vs Production Cost</a:t>
            </a:r>
            <a:endParaRPr lang="en-US" sz="950" dirty="0"/>
          </a:p>
        </p:txBody>
      </p:sp>
      <p:sp>
        <p:nvSpPr>
          <p:cNvPr id="35" name="Shape 33"/>
          <p:cNvSpPr/>
          <p:nvPr/>
        </p:nvSpPr>
        <p:spPr>
          <a:xfrm>
            <a:off x="9107424" y="2423160"/>
            <a:ext cx="2651760" cy="356616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36" name="Shape 34"/>
          <p:cNvSpPr/>
          <p:nvPr/>
        </p:nvSpPr>
        <p:spPr>
          <a:xfrm>
            <a:off x="9107424" y="2423160"/>
            <a:ext cx="2651760" cy="502920"/>
          </a:xfrm>
          <a:prstGeom prst="rect">
            <a:avLst/>
          </a:prstGeom>
          <a:solidFill>
            <a:srgbClr val="0E7C86"/>
          </a:solidFill>
          <a:ln/>
        </p:spPr>
      </p:sp>
      <p:sp>
        <p:nvSpPr>
          <p:cNvPr id="37" name="Text 35"/>
          <p:cNvSpPr/>
          <p:nvPr/>
        </p:nvSpPr>
        <p:spPr>
          <a:xfrm>
            <a:off x="9244584" y="2423160"/>
            <a:ext cx="2377440" cy="502920"/>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KPI Queries</a:t>
            </a:r>
            <a:endParaRPr lang="en-US" sz="1250" dirty="0"/>
          </a:p>
        </p:txBody>
      </p:sp>
      <p:sp>
        <p:nvSpPr>
          <p:cNvPr id="38" name="Shape 36"/>
          <p:cNvSpPr/>
          <p:nvPr/>
        </p:nvSpPr>
        <p:spPr>
          <a:xfrm>
            <a:off x="9290304" y="3163824"/>
            <a:ext cx="73152" cy="73152"/>
          </a:xfrm>
          <a:prstGeom prst="ellipse">
            <a:avLst/>
          </a:prstGeom>
          <a:solidFill>
            <a:srgbClr val="0E7C86"/>
          </a:solidFill>
          <a:ln/>
        </p:spPr>
      </p:sp>
      <p:sp>
        <p:nvSpPr>
          <p:cNvPr id="39" name="Text 37"/>
          <p:cNvSpPr/>
          <p:nvPr/>
        </p:nvSpPr>
        <p:spPr>
          <a:xfrm>
            <a:off x="9454896" y="303580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Top 10 Products by Sales</a:t>
            </a:r>
            <a:endParaRPr lang="en-US" sz="950" dirty="0"/>
          </a:p>
        </p:txBody>
      </p:sp>
      <p:sp>
        <p:nvSpPr>
          <p:cNvPr id="40" name="Shape 38"/>
          <p:cNvSpPr/>
          <p:nvPr/>
        </p:nvSpPr>
        <p:spPr>
          <a:xfrm>
            <a:off x="9290304" y="3941064"/>
            <a:ext cx="73152" cy="73152"/>
          </a:xfrm>
          <a:prstGeom prst="ellipse">
            <a:avLst/>
          </a:prstGeom>
          <a:solidFill>
            <a:srgbClr val="0E7C86"/>
          </a:solidFill>
          <a:ln/>
        </p:spPr>
      </p:sp>
      <p:sp>
        <p:nvSpPr>
          <p:cNvPr id="41" name="Text 39"/>
          <p:cNvSpPr/>
          <p:nvPr/>
        </p:nvSpPr>
        <p:spPr>
          <a:xfrm>
            <a:off x="9454896" y="381304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Top 10 Customers by Sales</a:t>
            </a:r>
            <a:endParaRPr lang="en-US" sz="950" dirty="0"/>
          </a:p>
        </p:txBody>
      </p:sp>
      <p:sp>
        <p:nvSpPr>
          <p:cNvPr id="42" name="Shape 40"/>
          <p:cNvSpPr/>
          <p:nvPr/>
        </p:nvSpPr>
        <p:spPr>
          <a:xfrm>
            <a:off x="9290304" y="4718304"/>
            <a:ext cx="73152" cy="73152"/>
          </a:xfrm>
          <a:prstGeom prst="ellipse">
            <a:avLst/>
          </a:prstGeom>
          <a:solidFill>
            <a:srgbClr val="0E7C86"/>
          </a:solidFill>
          <a:ln/>
        </p:spPr>
      </p:sp>
      <p:sp>
        <p:nvSpPr>
          <p:cNvPr id="43" name="Text 41"/>
          <p:cNvSpPr/>
          <p:nvPr/>
        </p:nvSpPr>
        <p:spPr>
          <a:xfrm>
            <a:off x="9454896" y="4590288"/>
            <a:ext cx="2148840" cy="713232"/>
          </a:xfrm>
          <a:prstGeom prst="rect">
            <a:avLst/>
          </a:prstGeom>
          <a:noFill/>
          <a:ln/>
        </p:spPr>
        <p:txBody>
          <a:bodyPr wrap="square" rtlCol="0" anchor="ctr"/>
          <a:lstStyle/>
          <a:p>
            <a:pPr marL="0" indent="0">
              <a:lnSpc>
                <a:spcPct val="110000"/>
              </a:lnSpc>
              <a:buNone/>
            </a:pPr>
            <a:r>
              <a:rPr lang="en-US" sz="950" dirty="0">
                <a:solidFill>
                  <a:srgbClr val="1F2937"/>
                </a:solidFill>
                <a:latin typeface="Calibri" pitchFamily="34" charset="0"/>
                <a:ea typeface="Calibri" pitchFamily="34" charset="-122"/>
                <a:cs typeface="Calibri" pitchFamily="34" charset="-120"/>
              </a:rPr>
              <a:t>Sales Performance by Region</a:t>
            </a:r>
            <a:endParaRPr lang="en-US" sz="950" dirty="0"/>
          </a:p>
        </p:txBody>
      </p:sp>
      <p:sp>
        <p:nvSpPr>
          <p:cNvPr id="44" name="Text 42"/>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45" name="Text 4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ADVANCED SQL ANALYTICS</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Window functions &amp; ranking queries in MySQL Workbench</a:t>
            </a:r>
            <a:endParaRPr lang="en-US" sz="1300" dirty="0"/>
          </a:p>
        </p:txBody>
      </p:sp>
      <p:sp>
        <p:nvSpPr>
          <p:cNvPr id="4" name="Shape 2"/>
          <p:cNvSpPr/>
          <p:nvPr/>
        </p:nvSpPr>
        <p:spPr>
          <a:xfrm>
            <a:off x="548640" y="1508760"/>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5" name="Shape 3"/>
          <p:cNvSpPr/>
          <p:nvPr/>
        </p:nvSpPr>
        <p:spPr>
          <a:xfrm>
            <a:off x="749808" y="1691640"/>
            <a:ext cx="384048" cy="384048"/>
          </a:xfrm>
          <a:prstGeom prst="ellipse">
            <a:avLst/>
          </a:prstGeom>
          <a:solidFill>
            <a:srgbClr val="0E7C86"/>
          </a:solidFill>
          <a:ln/>
        </p:spPr>
      </p:sp>
      <p:sp>
        <p:nvSpPr>
          <p:cNvPr id="6" name="Text 4"/>
          <p:cNvSpPr/>
          <p:nvPr/>
        </p:nvSpPr>
        <p:spPr>
          <a:xfrm>
            <a:off x="749808" y="169164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261872" y="1664208"/>
            <a:ext cx="2606040" cy="457200"/>
          </a:xfrm>
          <a:prstGeom prst="rect">
            <a:avLst/>
          </a:prstGeom>
          <a:noFill/>
          <a:ln/>
        </p:spPr>
        <p:txBody>
          <a:bodyPr wrap="square" rtlCol="0" anchor="ctr"/>
          <a:lstStyle/>
          <a:p>
            <a:pPr marL="0" indent="0">
              <a:buNone/>
            </a:pPr>
            <a:r>
              <a:rPr lang="en-US" sz="1300" b="1" dirty="0">
                <a:solidFill>
                  <a:srgbClr val="142850"/>
                </a:solidFill>
                <a:latin typeface="Cambria" pitchFamily="34" charset="0"/>
                <a:ea typeface="Cambria" pitchFamily="34" charset="-122"/>
                <a:cs typeface="Cambria" pitchFamily="34" charset="-120"/>
              </a:rPr>
              <a:t>Year-over-Year Growth</a:t>
            </a:r>
            <a:endParaRPr lang="en-US" sz="1300" dirty="0"/>
          </a:p>
        </p:txBody>
      </p:sp>
      <p:sp>
        <p:nvSpPr>
          <p:cNvPr id="8" name="Text 6"/>
          <p:cNvSpPr/>
          <p:nvPr/>
        </p:nvSpPr>
        <p:spPr>
          <a:xfrm>
            <a:off x="777240" y="2167128"/>
            <a:ext cx="3063240" cy="658368"/>
          </a:xfrm>
          <a:prstGeom prst="rect">
            <a:avLst/>
          </a:prstGeom>
          <a:noFill/>
          <a:ln/>
        </p:spPr>
        <p:txBody>
          <a:bodyPr wrap="square" rtlCol="0" anchor="ctr"/>
          <a:lstStyle/>
          <a:p>
            <a:pPr marL="0" indent="0">
              <a:lnSpc>
                <a:spcPct val="112000"/>
              </a:lnSpc>
              <a:buNone/>
            </a:pPr>
            <a:r>
              <a:rPr lang="en-US" sz="1000" dirty="0">
                <a:solidFill>
                  <a:srgbClr val="1F2937"/>
                </a:solidFill>
                <a:latin typeface="Calibri" pitchFamily="34" charset="0"/>
                <a:ea typeface="Calibri" pitchFamily="34" charset="-122"/>
                <a:cs typeface="Calibri" pitchFamily="34" charset="-120"/>
              </a:rPr>
              <a:t>LAG() compares each year's sales to the prior year and computes YoY growth %.</a:t>
            </a:r>
            <a:endParaRPr lang="en-US" sz="1000" dirty="0"/>
          </a:p>
        </p:txBody>
      </p:sp>
      <p:sp>
        <p:nvSpPr>
          <p:cNvPr id="9" name="Shape 7"/>
          <p:cNvSpPr/>
          <p:nvPr/>
        </p:nvSpPr>
        <p:spPr>
          <a:xfrm>
            <a:off x="777240" y="3090672"/>
            <a:ext cx="3063240" cy="274320"/>
          </a:xfrm>
          <a:prstGeom prst="roundRect">
            <a:avLst>
              <a:gd name="adj" fmla="val 13333"/>
            </a:avLst>
          </a:prstGeom>
          <a:solidFill>
            <a:srgbClr val="142850"/>
          </a:solidFill>
          <a:ln/>
        </p:spPr>
      </p:sp>
      <p:sp>
        <p:nvSpPr>
          <p:cNvPr id="10" name="Text 8"/>
          <p:cNvSpPr/>
          <p:nvPr/>
        </p:nvSpPr>
        <p:spPr>
          <a:xfrm>
            <a:off x="841248" y="3090672"/>
            <a:ext cx="2935224" cy="274320"/>
          </a:xfrm>
          <a:prstGeom prst="rect">
            <a:avLst/>
          </a:prstGeom>
          <a:noFill/>
          <a:ln/>
        </p:spPr>
        <p:txBody>
          <a:bodyPr wrap="square" rtlCol="0" anchor="ctr"/>
          <a:lstStyle/>
          <a:p>
            <a:pPr marL="0" indent="0">
              <a:buNone/>
            </a:pPr>
            <a:r>
              <a:rPr lang="en-US" sz="800" dirty="0">
                <a:solidFill>
                  <a:srgbClr val="DCEEF0"/>
                </a:solidFill>
                <a:latin typeface="Courier New" pitchFamily="34" charset="0"/>
                <a:ea typeface="Courier New" pitchFamily="34" charset="-122"/>
                <a:cs typeface="Courier New" pitchFamily="34" charset="-120"/>
              </a:rPr>
              <a:t>LAG() OVER (ORDER BY SalesYear)</a:t>
            </a:r>
            <a:endParaRPr lang="en-US" sz="800" dirty="0"/>
          </a:p>
        </p:txBody>
      </p:sp>
      <p:sp>
        <p:nvSpPr>
          <p:cNvPr id="11" name="Shape 9"/>
          <p:cNvSpPr/>
          <p:nvPr/>
        </p:nvSpPr>
        <p:spPr>
          <a:xfrm>
            <a:off x="4343400" y="1508760"/>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12" name="Shape 10"/>
          <p:cNvSpPr/>
          <p:nvPr/>
        </p:nvSpPr>
        <p:spPr>
          <a:xfrm>
            <a:off x="4544568" y="1691640"/>
            <a:ext cx="384048" cy="384048"/>
          </a:xfrm>
          <a:prstGeom prst="ellipse">
            <a:avLst/>
          </a:prstGeom>
          <a:solidFill>
            <a:srgbClr val="E8871E"/>
          </a:solidFill>
          <a:ln/>
        </p:spPr>
      </p:sp>
      <p:sp>
        <p:nvSpPr>
          <p:cNvPr id="13" name="Text 11"/>
          <p:cNvSpPr/>
          <p:nvPr/>
        </p:nvSpPr>
        <p:spPr>
          <a:xfrm>
            <a:off x="4544568" y="169164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5056632" y="1664208"/>
            <a:ext cx="2606040" cy="457200"/>
          </a:xfrm>
          <a:prstGeom prst="rect">
            <a:avLst/>
          </a:prstGeom>
          <a:noFill/>
          <a:ln/>
        </p:spPr>
        <p:txBody>
          <a:bodyPr wrap="square" rtlCol="0" anchor="ctr"/>
          <a:lstStyle/>
          <a:p>
            <a:pPr marL="0" indent="0">
              <a:buNone/>
            </a:pPr>
            <a:r>
              <a:rPr lang="en-US" sz="1300" b="1" dirty="0">
                <a:solidFill>
                  <a:srgbClr val="142850"/>
                </a:solidFill>
                <a:latin typeface="Cambria" pitchFamily="34" charset="0"/>
                <a:ea typeface="Cambria" pitchFamily="34" charset="-122"/>
                <a:cs typeface="Cambria" pitchFamily="34" charset="-120"/>
              </a:rPr>
              <a:t>Monthly Running Total</a:t>
            </a:r>
            <a:endParaRPr lang="en-US" sz="1300" dirty="0"/>
          </a:p>
        </p:txBody>
      </p:sp>
      <p:sp>
        <p:nvSpPr>
          <p:cNvPr id="15" name="Text 13"/>
          <p:cNvSpPr/>
          <p:nvPr/>
        </p:nvSpPr>
        <p:spPr>
          <a:xfrm>
            <a:off x="4572000" y="2167128"/>
            <a:ext cx="3063240" cy="658368"/>
          </a:xfrm>
          <a:prstGeom prst="rect">
            <a:avLst/>
          </a:prstGeom>
          <a:noFill/>
          <a:ln/>
        </p:spPr>
        <p:txBody>
          <a:bodyPr wrap="square" rtlCol="0" anchor="ctr"/>
          <a:lstStyle/>
          <a:p>
            <a:pPr marL="0" indent="0">
              <a:lnSpc>
                <a:spcPct val="112000"/>
              </a:lnSpc>
              <a:buNone/>
            </a:pPr>
            <a:r>
              <a:rPr lang="en-US" sz="1000" dirty="0">
                <a:solidFill>
                  <a:srgbClr val="1F2937"/>
                </a:solidFill>
                <a:latin typeface="Calibri" pitchFamily="34" charset="0"/>
                <a:ea typeface="Calibri" pitchFamily="34" charset="-122"/>
                <a:cs typeface="Calibri" pitchFamily="34" charset="-120"/>
              </a:rPr>
              <a:t>A cumulative sales total build month by month across the full order history.</a:t>
            </a:r>
            <a:endParaRPr lang="en-US" sz="1000" dirty="0"/>
          </a:p>
        </p:txBody>
      </p:sp>
      <p:sp>
        <p:nvSpPr>
          <p:cNvPr id="16" name="Shape 14"/>
          <p:cNvSpPr/>
          <p:nvPr/>
        </p:nvSpPr>
        <p:spPr>
          <a:xfrm>
            <a:off x="4572000" y="3090672"/>
            <a:ext cx="3063240" cy="274320"/>
          </a:xfrm>
          <a:prstGeom prst="roundRect">
            <a:avLst>
              <a:gd name="adj" fmla="val 13333"/>
            </a:avLst>
          </a:prstGeom>
          <a:solidFill>
            <a:srgbClr val="142850"/>
          </a:solidFill>
          <a:ln/>
        </p:spPr>
      </p:sp>
      <p:sp>
        <p:nvSpPr>
          <p:cNvPr id="17" name="Text 15"/>
          <p:cNvSpPr/>
          <p:nvPr/>
        </p:nvSpPr>
        <p:spPr>
          <a:xfrm>
            <a:off x="4636008" y="3090672"/>
            <a:ext cx="2935224" cy="274320"/>
          </a:xfrm>
          <a:prstGeom prst="rect">
            <a:avLst/>
          </a:prstGeom>
          <a:noFill/>
          <a:ln/>
        </p:spPr>
        <p:txBody>
          <a:bodyPr wrap="square" rtlCol="0" anchor="ctr"/>
          <a:lstStyle/>
          <a:p>
            <a:pPr marL="0" indent="0">
              <a:buNone/>
            </a:pPr>
            <a:r>
              <a:rPr lang="en-US" sz="800" dirty="0">
                <a:solidFill>
                  <a:srgbClr val="DCEEF0"/>
                </a:solidFill>
                <a:latin typeface="Courier New" pitchFamily="34" charset="0"/>
                <a:ea typeface="Courier New" pitchFamily="34" charset="-122"/>
                <a:cs typeface="Courier New" pitchFamily="34" charset="-120"/>
              </a:rPr>
              <a:t>SUM(...) OVER (ROWS UNBOUNDED PRECEDING)</a:t>
            </a:r>
            <a:endParaRPr lang="en-US" sz="800" dirty="0"/>
          </a:p>
        </p:txBody>
      </p:sp>
      <p:sp>
        <p:nvSpPr>
          <p:cNvPr id="18" name="Shape 16"/>
          <p:cNvSpPr/>
          <p:nvPr/>
        </p:nvSpPr>
        <p:spPr>
          <a:xfrm>
            <a:off x="8138160" y="1508760"/>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19" name="Shape 17"/>
          <p:cNvSpPr/>
          <p:nvPr/>
        </p:nvSpPr>
        <p:spPr>
          <a:xfrm>
            <a:off x="8339328" y="1691640"/>
            <a:ext cx="384048" cy="384048"/>
          </a:xfrm>
          <a:prstGeom prst="ellipse">
            <a:avLst/>
          </a:prstGeom>
          <a:solidFill>
            <a:srgbClr val="142850"/>
          </a:solidFill>
          <a:ln/>
        </p:spPr>
      </p:sp>
      <p:sp>
        <p:nvSpPr>
          <p:cNvPr id="20" name="Text 18"/>
          <p:cNvSpPr/>
          <p:nvPr/>
        </p:nvSpPr>
        <p:spPr>
          <a:xfrm>
            <a:off x="8339328" y="169164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1" name="Text 19"/>
          <p:cNvSpPr/>
          <p:nvPr/>
        </p:nvSpPr>
        <p:spPr>
          <a:xfrm>
            <a:off x="8851392" y="1664208"/>
            <a:ext cx="2606040" cy="457200"/>
          </a:xfrm>
          <a:prstGeom prst="rect">
            <a:avLst/>
          </a:prstGeom>
          <a:noFill/>
          <a:ln/>
        </p:spPr>
        <p:txBody>
          <a:bodyPr wrap="square" rtlCol="0" anchor="ctr"/>
          <a:lstStyle/>
          <a:p>
            <a:pPr marL="0" indent="0">
              <a:buNone/>
            </a:pPr>
            <a:r>
              <a:rPr lang="en-US" sz="1300" b="1" dirty="0">
                <a:solidFill>
                  <a:srgbClr val="142850"/>
                </a:solidFill>
                <a:latin typeface="Cambria" pitchFamily="34" charset="0"/>
                <a:ea typeface="Cambria" pitchFamily="34" charset="-122"/>
                <a:cs typeface="Cambria" pitchFamily="34" charset="-120"/>
              </a:rPr>
              <a:t>Best Product Category</a:t>
            </a:r>
            <a:endParaRPr lang="en-US" sz="1300" dirty="0"/>
          </a:p>
        </p:txBody>
      </p:sp>
      <p:sp>
        <p:nvSpPr>
          <p:cNvPr id="22" name="Text 20"/>
          <p:cNvSpPr/>
          <p:nvPr/>
        </p:nvSpPr>
        <p:spPr>
          <a:xfrm>
            <a:off x="8366760" y="2167128"/>
            <a:ext cx="3063240" cy="658368"/>
          </a:xfrm>
          <a:prstGeom prst="rect">
            <a:avLst/>
          </a:prstGeom>
          <a:noFill/>
          <a:ln/>
        </p:spPr>
        <p:txBody>
          <a:bodyPr wrap="square" rtlCol="0" anchor="ctr"/>
          <a:lstStyle/>
          <a:p>
            <a:pPr marL="0" indent="0">
              <a:lnSpc>
                <a:spcPct val="112000"/>
              </a:lnSpc>
              <a:buNone/>
            </a:pPr>
            <a:r>
              <a:rPr lang="en-US" sz="1000" dirty="0">
                <a:solidFill>
                  <a:srgbClr val="1F2937"/>
                </a:solidFill>
                <a:latin typeface="Calibri" pitchFamily="34" charset="0"/>
                <a:ea typeface="Calibri" pitchFamily="34" charset="-122"/>
                <a:cs typeface="Calibri" pitchFamily="34" charset="-120"/>
              </a:rPr>
              <a:t>Joins Product → SubCategory → Category and ranks total sales to find the #1 category.</a:t>
            </a:r>
            <a:endParaRPr lang="en-US" sz="1000" dirty="0"/>
          </a:p>
        </p:txBody>
      </p:sp>
      <p:sp>
        <p:nvSpPr>
          <p:cNvPr id="23" name="Shape 21"/>
          <p:cNvSpPr/>
          <p:nvPr/>
        </p:nvSpPr>
        <p:spPr>
          <a:xfrm>
            <a:off x="8366760" y="3090672"/>
            <a:ext cx="3063240" cy="274320"/>
          </a:xfrm>
          <a:prstGeom prst="roundRect">
            <a:avLst>
              <a:gd name="adj" fmla="val 13333"/>
            </a:avLst>
          </a:prstGeom>
          <a:solidFill>
            <a:srgbClr val="142850"/>
          </a:solidFill>
          <a:ln/>
        </p:spPr>
      </p:sp>
      <p:sp>
        <p:nvSpPr>
          <p:cNvPr id="24" name="Text 22"/>
          <p:cNvSpPr/>
          <p:nvPr/>
        </p:nvSpPr>
        <p:spPr>
          <a:xfrm>
            <a:off x="8430768" y="3090672"/>
            <a:ext cx="2935224" cy="274320"/>
          </a:xfrm>
          <a:prstGeom prst="rect">
            <a:avLst/>
          </a:prstGeom>
          <a:noFill/>
          <a:ln/>
        </p:spPr>
        <p:txBody>
          <a:bodyPr wrap="square" rtlCol="0" anchor="ctr"/>
          <a:lstStyle/>
          <a:p>
            <a:pPr marL="0" indent="0">
              <a:buNone/>
            </a:pPr>
            <a:r>
              <a:rPr lang="en-US" sz="800" dirty="0">
                <a:solidFill>
                  <a:srgbClr val="DCEEF0"/>
                </a:solidFill>
                <a:latin typeface="Courier New" pitchFamily="34" charset="0"/>
                <a:ea typeface="Courier New" pitchFamily="34" charset="-122"/>
                <a:cs typeface="Courier New" pitchFamily="34" charset="-120"/>
              </a:rPr>
              <a:t>GROUP BY Category  ORDER BY Sales DESC</a:t>
            </a:r>
            <a:endParaRPr lang="en-US" sz="800" dirty="0"/>
          </a:p>
        </p:txBody>
      </p:sp>
      <p:sp>
        <p:nvSpPr>
          <p:cNvPr id="25" name="Shape 23"/>
          <p:cNvSpPr/>
          <p:nvPr/>
        </p:nvSpPr>
        <p:spPr>
          <a:xfrm>
            <a:off x="548640" y="3730752"/>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26" name="Shape 24"/>
          <p:cNvSpPr/>
          <p:nvPr/>
        </p:nvSpPr>
        <p:spPr>
          <a:xfrm>
            <a:off x="749808" y="3913632"/>
            <a:ext cx="384048" cy="384048"/>
          </a:xfrm>
          <a:prstGeom prst="ellipse">
            <a:avLst/>
          </a:prstGeom>
          <a:solidFill>
            <a:srgbClr val="0E7C86"/>
          </a:solidFill>
          <a:ln/>
        </p:spPr>
      </p:sp>
      <p:sp>
        <p:nvSpPr>
          <p:cNvPr id="27" name="Text 25"/>
          <p:cNvSpPr/>
          <p:nvPr/>
        </p:nvSpPr>
        <p:spPr>
          <a:xfrm>
            <a:off x="749808" y="3913632"/>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8" name="Text 26"/>
          <p:cNvSpPr/>
          <p:nvPr/>
        </p:nvSpPr>
        <p:spPr>
          <a:xfrm>
            <a:off x="1261872" y="3886200"/>
            <a:ext cx="2606040" cy="457200"/>
          </a:xfrm>
          <a:prstGeom prst="rect">
            <a:avLst/>
          </a:prstGeom>
          <a:noFill/>
          <a:ln/>
        </p:spPr>
        <p:txBody>
          <a:bodyPr wrap="square" rtlCol="0" anchor="ctr"/>
          <a:lstStyle/>
          <a:p>
            <a:pPr marL="0" indent="0">
              <a:buNone/>
            </a:pPr>
            <a:r>
              <a:rPr lang="en-US" sz="1300" b="1" dirty="0">
                <a:solidFill>
                  <a:srgbClr val="142850"/>
                </a:solidFill>
                <a:latin typeface="Cambria" pitchFamily="34" charset="0"/>
                <a:ea typeface="Cambria" pitchFamily="34" charset="-122"/>
                <a:cs typeface="Cambria" pitchFamily="34" charset="-120"/>
              </a:rPr>
              <a:t>Highest Profit Products</a:t>
            </a:r>
            <a:endParaRPr lang="en-US" sz="1300" dirty="0"/>
          </a:p>
        </p:txBody>
      </p:sp>
      <p:sp>
        <p:nvSpPr>
          <p:cNvPr id="29" name="Text 27"/>
          <p:cNvSpPr/>
          <p:nvPr/>
        </p:nvSpPr>
        <p:spPr>
          <a:xfrm>
            <a:off x="777240" y="4389120"/>
            <a:ext cx="3063240" cy="658368"/>
          </a:xfrm>
          <a:prstGeom prst="rect">
            <a:avLst/>
          </a:prstGeom>
          <a:noFill/>
          <a:ln/>
        </p:spPr>
        <p:txBody>
          <a:bodyPr wrap="square" rtlCol="0" anchor="ctr"/>
          <a:lstStyle/>
          <a:p>
            <a:pPr marL="0" indent="0">
              <a:lnSpc>
                <a:spcPct val="112000"/>
              </a:lnSpc>
              <a:buNone/>
            </a:pPr>
            <a:r>
              <a:rPr lang="en-US" sz="1000" dirty="0">
                <a:solidFill>
                  <a:srgbClr val="1F2937"/>
                </a:solidFill>
                <a:latin typeface="Calibri" pitchFamily="34" charset="0"/>
                <a:ea typeface="Calibri" pitchFamily="34" charset="-122"/>
                <a:cs typeface="Calibri" pitchFamily="34" charset="-120"/>
              </a:rPr>
              <a:t>Top 10 products ranked by Sales Amount minus Production Cost.</a:t>
            </a:r>
            <a:endParaRPr lang="en-US" sz="1000" dirty="0"/>
          </a:p>
        </p:txBody>
      </p:sp>
      <p:sp>
        <p:nvSpPr>
          <p:cNvPr id="30" name="Shape 28"/>
          <p:cNvSpPr/>
          <p:nvPr/>
        </p:nvSpPr>
        <p:spPr>
          <a:xfrm>
            <a:off x="777240" y="5312664"/>
            <a:ext cx="3063240" cy="274320"/>
          </a:xfrm>
          <a:prstGeom prst="roundRect">
            <a:avLst>
              <a:gd name="adj" fmla="val 13333"/>
            </a:avLst>
          </a:prstGeom>
          <a:solidFill>
            <a:srgbClr val="142850"/>
          </a:solidFill>
          <a:ln/>
        </p:spPr>
      </p:sp>
      <p:sp>
        <p:nvSpPr>
          <p:cNvPr id="31" name="Text 29"/>
          <p:cNvSpPr/>
          <p:nvPr/>
        </p:nvSpPr>
        <p:spPr>
          <a:xfrm>
            <a:off x="841248" y="5312664"/>
            <a:ext cx="2935224" cy="274320"/>
          </a:xfrm>
          <a:prstGeom prst="rect">
            <a:avLst/>
          </a:prstGeom>
          <a:noFill/>
          <a:ln/>
        </p:spPr>
        <p:txBody>
          <a:bodyPr wrap="square" rtlCol="0" anchor="ctr"/>
          <a:lstStyle/>
          <a:p>
            <a:pPr marL="0" indent="0">
              <a:buNone/>
            </a:pPr>
            <a:r>
              <a:rPr lang="en-US" sz="800" dirty="0">
                <a:solidFill>
                  <a:srgbClr val="DCEEF0"/>
                </a:solidFill>
                <a:latin typeface="Courier New" pitchFamily="34" charset="0"/>
                <a:ea typeface="Courier New" pitchFamily="34" charset="-122"/>
                <a:cs typeface="Courier New" pitchFamily="34" charset="-120"/>
              </a:rPr>
              <a:t>ORDER BY TotalProfit DESC  LIMIT 10</a:t>
            </a:r>
            <a:endParaRPr lang="en-US" sz="800" dirty="0"/>
          </a:p>
        </p:txBody>
      </p:sp>
      <p:sp>
        <p:nvSpPr>
          <p:cNvPr id="32" name="Shape 30"/>
          <p:cNvSpPr/>
          <p:nvPr/>
        </p:nvSpPr>
        <p:spPr>
          <a:xfrm>
            <a:off x="4343400" y="3730752"/>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33" name="Shape 31"/>
          <p:cNvSpPr/>
          <p:nvPr/>
        </p:nvSpPr>
        <p:spPr>
          <a:xfrm>
            <a:off x="4544568" y="3913632"/>
            <a:ext cx="384048" cy="384048"/>
          </a:xfrm>
          <a:prstGeom prst="ellipse">
            <a:avLst/>
          </a:prstGeom>
          <a:solidFill>
            <a:srgbClr val="E8871E"/>
          </a:solidFill>
          <a:ln/>
        </p:spPr>
      </p:sp>
      <p:sp>
        <p:nvSpPr>
          <p:cNvPr id="34" name="Text 32"/>
          <p:cNvSpPr/>
          <p:nvPr/>
        </p:nvSpPr>
        <p:spPr>
          <a:xfrm>
            <a:off x="4544568" y="3913632"/>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5" name="Text 33"/>
          <p:cNvSpPr/>
          <p:nvPr/>
        </p:nvSpPr>
        <p:spPr>
          <a:xfrm>
            <a:off x="5056632" y="3886200"/>
            <a:ext cx="2606040" cy="457200"/>
          </a:xfrm>
          <a:prstGeom prst="rect">
            <a:avLst/>
          </a:prstGeom>
          <a:noFill/>
          <a:ln/>
        </p:spPr>
        <p:txBody>
          <a:bodyPr wrap="square" rtlCol="0" anchor="ctr"/>
          <a:lstStyle/>
          <a:p>
            <a:pPr marL="0" indent="0">
              <a:buNone/>
            </a:pPr>
            <a:r>
              <a:rPr lang="en-US" sz="1300" b="1" dirty="0">
                <a:solidFill>
                  <a:srgbClr val="142850"/>
                </a:solidFill>
                <a:latin typeface="Cambria" pitchFamily="34" charset="0"/>
                <a:ea typeface="Cambria" pitchFamily="34" charset="-122"/>
                <a:cs typeface="Cambria" pitchFamily="34" charset="-120"/>
              </a:rPr>
              <a:t>Customer Ranking</a:t>
            </a:r>
            <a:endParaRPr lang="en-US" sz="1300" dirty="0"/>
          </a:p>
        </p:txBody>
      </p:sp>
      <p:sp>
        <p:nvSpPr>
          <p:cNvPr id="36" name="Text 34"/>
          <p:cNvSpPr/>
          <p:nvPr/>
        </p:nvSpPr>
        <p:spPr>
          <a:xfrm>
            <a:off x="4572000" y="4389120"/>
            <a:ext cx="3063240" cy="658368"/>
          </a:xfrm>
          <a:prstGeom prst="rect">
            <a:avLst/>
          </a:prstGeom>
          <a:noFill/>
          <a:ln/>
        </p:spPr>
        <p:txBody>
          <a:bodyPr wrap="square" rtlCol="0" anchor="ctr"/>
          <a:lstStyle/>
          <a:p>
            <a:pPr marL="0" indent="0">
              <a:lnSpc>
                <a:spcPct val="112000"/>
              </a:lnSpc>
              <a:buNone/>
            </a:pPr>
            <a:r>
              <a:rPr lang="en-US" sz="1000" dirty="0">
                <a:solidFill>
                  <a:srgbClr val="1F2937"/>
                </a:solidFill>
                <a:latin typeface="Calibri" pitchFamily="34" charset="0"/>
                <a:ea typeface="Calibri" pitchFamily="34" charset="-122"/>
                <a:cs typeface="Calibri" pitchFamily="34" charset="-120"/>
              </a:rPr>
              <a:t>Every customer ranked by total spend, with ties handled correctly.</a:t>
            </a:r>
            <a:endParaRPr lang="en-US" sz="1000" dirty="0"/>
          </a:p>
        </p:txBody>
      </p:sp>
      <p:sp>
        <p:nvSpPr>
          <p:cNvPr id="37" name="Shape 35"/>
          <p:cNvSpPr/>
          <p:nvPr/>
        </p:nvSpPr>
        <p:spPr>
          <a:xfrm>
            <a:off x="4572000" y="5312664"/>
            <a:ext cx="3063240" cy="274320"/>
          </a:xfrm>
          <a:prstGeom prst="roundRect">
            <a:avLst>
              <a:gd name="adj" fmla="val 13333"/>
            </a:avLst>
          </a:prstGeom>
          <a:solidFill>
            <a:srgbClr val="142850"/>
          </a:solidFill>
          <a:ln/>
        </p:spPr>
      </p:sp>
      <p:sp>
        <p:nvSpPr>
          <p:cNvPr id="38" name="Text 36"/>
          <p:cNvSpPr/>
          <p:nvPr/>
        </p:nvSpPr>
        <p:spPr>
          <a:xfrm>
            <a:off x="4636008" y="5312664"/>
            <a:ext cx="2935224" cy="274320"/>
          </a:xfrm>
          <a:prstGeom prst="rect">
            <a:avLst/>
          </a:prstGeom>
          <a:noFill/>
          <a:ln/>
        </p:spPr>
        <p:txBody>
          <a:bodyPr wrap="square" rtlCol="0" anchor="ctr"/>
          <a:lstStyle/>
          <a:p>
            <a:pPr marL="0" indent="0">
              <a:buNone/>
            </a:pPr>
            <a:r>
              <a:rPr lang="en-US" sz="800" dirty="0">
                <a:solidFill>
                  <a:srgbClr val="DCEEF0"/>
                </a:solidFill>
                <a:latin typeface="Courier New" pitchFamily="34" charset="0"/>
                <a:ea typeface="Courier New" pitchFamily="34" charset="-122"/>
                <a:cs typeface="Courier New" pitchFamily="34" charset="-120"/>
              </a:rPr>
              <a:t>DENSE_RANK() OVER (ORDER BY Sales DESC)</a:t>
            </a:r>
            <a:endParaRPr lang="en-US" sz="800" dirty="0"/>
          </a:p>
        </p:txBody>
      </p:sp>
      <p:sp>
        <p:nvSpPr>
          <p:cNvPr id="39" name="Shape 37"/>
          <p:cNvSpPr/>
          <p:nvPr/>
        </p:nvSpPr>
        <p:spPr>
          <a:xfrm>
            <a:off x="8138160" y="3730752"/>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sp>
      <p:sp>
        <p:nvSpPr>
          <p:cNvPr id="40" name="Shape 38"/>
          <p:cNvSpPr/>
          <p:nvPr/>
        </p:nvSpPr>
        <p:spPr>
          <a:xfrm>
            <a:off x="8339328" y="3913632"/>
            <a:ext cx="384048" cy="384048"/>
          </a:xfrm>
          <a:prstGeom prst="ellipse">
            <a:avLst/>
          </a:prstGeom>
          <a:solidFill>
            <a:srgbClr val="142850"/>
          </a:solidFill>
          <a:ln/>
        </p:spPr>
      </p:sp>
      <p:sp>
        <p:nvSpPr>
          <p:cNvPr id="41" name="Text 39"/>
          <p:cNvSpPr/>
          <p:nvPr/>
        </p:nvSpPr>
        <p:spPr>
          <a:xfrm>
            <a:off x="8339328" y="3913632"/>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42" name="Text 40"/>
          <p:cNvSpPr/>
          <p:nvPr/>
        </p:nvSpPr>
        <p:spPr>
          <a:xfrm>
            <a:off x="8851392" y="3886200"/>
            <a:ext cx="2606040" cy="457200"/>
          </a:xfrm>
          <a:prstGeom prst="rect">
            <a:avLst/>
          </a:prstGeom>
          <a:noFill/>
          <a:ln/>
        </p:spPr>
        <p:txBody>
          <a:bodyPr wrap="square" rtlCol="0" anchor="ctr"/>
          <a:lstStyle/>
          <a:p>
            <a:pPr marL="0" indent="0">
              <a:buNone/>
            </a:pPr>
            <a:r>
              <a:rPr lang="en-US" sz="1300" b="1" dirty="0">
                <a:solidFill>
                  <a:srgbClr val="142850"/>
                </a:solidFill>
                <a:latin typeface="Cambria" pitchFamily="34" charset="0"/>
                <a:ea typeface="Cambria" pitchFamily="34" charset="-122"/>
                <a:cs typeface="Cambria" pitchFamily="34" charset="-120"/>
              </a:rPr>
              <a:t>Reusable View Layer</a:t>
            </a:r>
            <a:endParaRPr lang="en-US" sz="1300" dirty="0"/>
          </a:p>
        </p:txBody>
      </p:sp>
      <p:sp>
        <p:nvSpPr>
          <p:cNvPr id="43" name="Text 41"/>
          <p:cNvSpPr/>
          <p:nvPr/>
        </p:nvSpPr>
        <p:spPr>
          <a:xfrm>
            <a:off x="8366760" y="4389120"/>
            <a:ext cx="3063240" cy="658368"/>
          </a:xfrm>
          <a:prstGeom prst="rect">
            <a:avLst/>
          </a:prstGeom>
          <a:noFill/>
          <a:ln/>
        </p:spPr>
        <p:txBody>
          <a:bodyPr wrap="square" rtlCol="0" anchor="ctr"/>
          <a:lstStyle/>
          <a:p>
            <a:pPr marL="0" indent="0">
              <a:lnSpc>
                <a:spcPct val="112000"/>
              </a:lnSpc>
              <a:buNone/>
            </a:pPr>
            <a:r>
              <a:rPr lang="en-US" sz="1000" dirty="0">
                <a:solidFill>
                  <a:srgbClr val="1F2937"/>
                </a:solidFill>
                <a:latin typeface="Calibri" pitchFamily="34" charset="0"/>
                <a:ea typeface="Calibri" pitchFamily="34" charset="-122"/>
                <a:cs typeface="Calibri" pitchFamily="34" charset="-120"/>
              </a:rPr>
              <a:t>All 17 queries run against a single v_UnionedSales view — one source of truth for every chart.</a:t>
            </a:r>
            <a:endParaRPr lang="en-US" sz="1000" dirty="0"/>
          </a:p>
        </p:txBody>
      </p:sp>
      <p:sp>
        <p:nvSpPr>
          <p:cNvPr id="44" name="Shape 42"/>
          <p:cNvSpPr/>
          <p:nvPr/>
        </p:nvSpPr>
        <p:spPr>
          <a:xfrm>
            <a:off x="8366760" y="5312664"/>
            <a:ext cx="3063240" cy="274320"/>
          </a:xfrm>
          <a:prstGeom prst="roundRect">
            <a:avLst>
              <a:gd name="adj" fmla="val 13333"/>
            </a:avLst>
          </a:prstGeom>
          <a:solidFill>
            <a:srgbClr val="142850"/>
          </a:solidFill>
          <a:ln/>
        </p:spPr>
      </p:sp>
      <p:sp>
        <p:nvSpPr>
          <p:cNvPr id="45" name="Text 43"/>
          <p:cNvSpPr/>
          <p:nvPr/>
        </p:nvSpPr>
        <p:spPr>
          <a:xfrm>
            <a:off x="8430768" y="5312664"/>
            <a:ext cx="2935224" cy="274320"/>
          </a:xfrm>
          <a:prstGeom prst="rect">
            <a:avLst/>
          </a:prstGeom>
          <a:noFill/>
          <a:ln/>
        </p:spPr>
        <p:txBody>
          <a:bodyPr wrap="square" rtlCol="0" anchor="ctr"/>
          <a:lstStyle/>
          <a:p>
            <a:pPr marL="0" indent="0">
              <a:buNone/>
            </a:pPr>
            <a:r>
              <a:rPr lang="en-US" sz="800" dirty="0">
                <a:solidFill>
                  <a:srgbClr val="DCEEF0"/>
                </a:solidFill>
                <a:latin typeface="Courier New" pitchFamily="34" charset="0"/>
                <a:ea typeface="Courier New" pitchFamily="34" charset="-122"/>
                <a:cs typeface="Courier New" pitchFamily="34" charset="-120"/>
              </a:rPr>
              <a:t>CREATE OR REPLACE VIEW v_UnionedSales</a:t>
            </a:r>
            <a:endParaRPr lang="en-US" sz="800" dirty="0"/>
          </a:p>
        </p:txBody>
      </p:sp>
      <p:sp>
        <p:nvSpPr>
          <p:cNvPr id="46" name="Text 44"/>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47" name="Text 4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TABLEAU DASHBOARD I</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Sales overview — year, quarter &amp; monthly trends, top products</a:t>
            </a:r>
            <a:endParaRPr lang="en-US" sz="1300" dirty="0"/>
          </a:p>
        </p:txBody>
      </p:sp>
      <p:pic>
        <p:nvPicPr>
          <p:cNvPr id="4" name="Image 0" descr="/home/claude/assets/dash1.png"/>
          <p:cNvPicPr>
            <a:picLocks noChangeAspect="1"/>
          </p:cNvPicPr>
          <p:nvPr/>
        </p:nvPicPr>
        <p:blipFill>
          <a:blip r:embed="rId3"/>
          <a:srcRect l="3852" t="7505" r="16288"/>
          <a:stretch>
            <a:fillRect/>
          </a:stretch>
        </p:blipFill>
        <p:spPr>
          <a:xfrm>
            <a:off x="669308" y="1707502"/>
            <a:ext cx="7056440" cy="4220424"/>
          </a:xfrm>
          <a:prstGeom prst="rect">
            <a:avLst/>
          </a:prstGeom>
        </p:spPr>
      </p:pic>
      <p:sp>
        <p:nvSpPr>
          <p:cNvPr id="7" name="PanelCard"/>
          <p:cNvSpPr/>
          <p:nvPr/>
        </p:nvSpPr>
        <p:spPr>
          <a:xfrm>
            <a:off x="8138160" y="1417320"/>
            <a:ext cx="3474720" cy="4892040"/>
          </a:xfrm>
          <a:prstGeom prst="roundRect">
            <a:avLst>
              <a:gd name="adj" fmla="val 4500"/>
            </a:avLst>
          </a:prstGeom>
          <a:solidFill>
            <a:srgbClr val="F7F9FC"/>
          </a:solidFill>
          <a:ln w="9525">
            <a:solidFill>
              <a:srgbClr val="E2E8F0"/>
            </a:solidFill>
          </a:ln>
          <a:effectLst>
            <a:outerShdw blurRad="90000" dist="30000" dir="5400000" rotWithShape="0">
              <a:srgbClr val="142850">
                <a:alpha val="14000"/>
              </a:srgbClr>
            </a:outerShdw>
          </a:effectLst>
        </p:spPr>
        <p:txBody>
          <a:bodyPr/>
          <a:lstStyle/>
          <a:p>
            <a:endParaRPr lang="en-US"/>
          </a:p>
        </p:txBody>
      </p:sp>
      <p:sp>
        <p:nvSpPr>
          <p:cNvPr id="8" name="PanelTitle"/>
          <p:cNvSpPr/>
          <p:nvPr/>
        </p:nvSpPr>
        <p:spPr>
          <a:xfrm>
            <a:off x="8412480" y="1691640"/>
            <a:ext cx="292608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rPr>
              <a:t>Visualizations Used</a:t>
            </a:r>
          </a:p>
        </p:txBody>
      </p:sp>
      <p:sp>
        <p:nvSpPr>
          <p:cNvPr id="9" name="Dot0"/>
          <p:cNvSpPr/>
          <p:nvPr/>
        </p:nvSpPr>
        <p:spPr>
          <a:xfrm>
            <a:off x="8412480" y="2194560"/>
            <a:ext cx="91440" cy="91440"/>
          </a:xfrm>
          <a:prstGeom prst="ellipse">
            <a:avLst/>
          </a:prstGeom>
          <a:solidFill>
            <a:srgbClr val="E8871E"/>
          </a:solidFill>
          <a:ln/>
        </p:spPr>
      </p:sp>
      <p:sp>
        <p:nvSpPr>
          <p:cNvPr id="10" name="Label0"/>
          <p:cNvSpPr/>
          <p:nvPr/>
        </p:nvSpPr>
        <p:spPr>
          <a:xfrm>
            <a:off x="8595360" y="21031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KPI Cards</a:t>
            </a:r>
          </a:p>
          <a:p>
            <a:pPr marL="0" indent="0">
              <a:buNone/>
            </a:pPr>
            <a:r>
              <a:rPr lang="en-US" sz="1000" dirty="0">
                <a:solidFill>
                  <a:srgbClr val="4B5563"/>
                </a:solidFill>
                <a:latin typeface="Calibri" pitchFamily="34" charset="0"/>
              </a:rPr>
              <a:t>Total Sales, Total Profit &amp; Production Cost at a glance</a:t>
            </a:r>
          </a:p>
        </p:txBody>
      </p:sp>
      <p:sp>
        <p:nvSpPr>
          <p:cNvPr id="11" name="Dot1"/>
          <p:cNvSpPr/>
          <p:nvPr/>
        </p:nvSpPr>
        <p:spPr>
          <a:xfrm>
            <a:off x="8412480" y="2880360"/>
            <a:ext cx="91440" cy="91440"/>
          </a:xfrm>
          <a:prstGeom prst="ellipse">
            <a:avLst/>
          </a:prstGeom>
          <a:solidFill>
            <a:srgbClr val="0E7C86"/>
          </a:solidFill>
          <a:ln/>
        </p:spPr>
      </p:sp>
      <p:sp>
        <p:nvSpPr>
          <p:cNvPr id="12" name="Label1"/>
          <p:cNvSpPr/>
          <p:nvPr/>
        </p:nvSpPr>
        <p:spPr>
          <a:xfrm>
            <a:off x="8595360" y="27889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Bar + Line Combo</a:t>
            </a:r>
          </a:p>
          <a:p>
            <a:pPr marL="0" indent="0">
              <a:buNone/>
            </a:pPr>
            <a:r>
              <a:rPr lang="en-US" sz="1000" dirty="0">
                <a:solidFill>
                  <a:srgbClr val="4B5563"/>
                </a:solidFill>
                <a:latin typeface="Calibri" pitchFamily="34" charset="0"/>
              </a:rPr>
              <a:t>Year-wise sales plotted against production cost</a:t>
            </a:r>
          </a:p>
        </p:txBody>
      </p:sp>
      <p:sp>
        <p:nvSpPr>
          <p:cNvPr id="13" name="Dot2"/>
          <p:cNvSpPr/>
          <p:nvPr/>
        </p:nvSpPr>
        <p:spPr>
          <a:xfrm>
            <a:off x="8412480" y="3566160"/>
            <a:ext cx="91440" cy="91440"/>
          </a:xfrm>
          <a:prstGeom prst="ellipse">
            <a:avLst/>
          </a:prstGeom>
          <a:solidFill>
            <a:srgbClr val="142850"/>
          </a:solidFill>
          <a:ln/>
        </p:spPr>
      </p:sp>
      <p:sp>
        <p:nvSpPr>
          <p:cNvPr id="14" name="Label2"/>
          <p:cNvSpPr/>
          <p:nvPr/>
        </p:nvSpPr>
        <p:spPr>
          <a:xfrm>
            <a:off x="8595360" y="34747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Pie Chart</a:t>
            </a:r>
          </a:p>
          <a:p>
            <a:pPr marL="0" indent="0">
              <a:buNone/>
            </a:pPr>
            <a:r>
              <a:rPr lang="en-US" sz="1000" dirty="0">
                <a:solidFill>
                  <a:srgbClr val="4B5563"/>
                </a:solidFill>
                <a:latin typeface="Calibri" pitchFamily="34" charset="0"/>
              </a:rPr>
              <a:t>Quarter-wise sales distribution across Q1–Q4</a:t>
            </a:r>
          </a:p>
        </p:txBody>
      </p:sp>
      <p:sp>
        <p:nvSpPr>
          <p:cNvPr id="15" name="Dot3"/>
          <p:cNvSpPr/>
          <p:nvPr/>
        </p:nvSpPr>
        <p:spPr>
          <a:xfrm>
            <a:off x="8412480" y="4251960"/>
            <a:ext cx="91440" cy="91440"/>
          </a:xfrm>
          <a:prstGeom prst="ellipse">
            <a:avLst/>
          </a:prstGeom>
          <a:solidFill>
            <a:srgbClr val="E8871E"/>
          </a:solidFill>
          <a:ln/>
        </p:spPr>
      </p:sp>
      <p:sp>
        <p:nvSpPr>
          <p:cNvPr id="16" name="Label3"/>
          <p:cNvSpPr/>
          <p:nvPr/>
        </p:nvSpPr>
        <p:spPr>
          <a:xfrm>
            <a:off x="8595360" y="41605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Line Chart</a:t>
            </a:r>
          </a:p>
          <a:p>
            <a:pPr marL="0" indent="0">
              <a:buNone/>
            </a:pPr>
            <a:r>
              <a:rPr lang="en-US" sz="1000" dirty="0">
                <a:solidFill>
                  <a:srgbClr val="4B5563"/>
                </a:solidFill>
                <a:latin typeface="Calibri" pitchFamily="34" charset="0"/>
              </a:rPr>
              <a:t>Month-wise sales trend across the year</a:t>
            </a:r>
          </a:p>
        </p:txBody>
      </p:sp>
      <p:sp>
        <p:nvSpPr>
          <p:cNvPr id="17" name="Dot4"/>
          <p:cNvSpPr/>
          <p:nvPr/>
        </p:nvSpPr>
        <p:spPr>
          <a:xfrm>
            <a:off x="8412480" y="4937760"/>
            <a:ext cx="91440" cy="91440"/>
          </a:xfrm>
          <a:prstGeom prst="ellipse">
            <a:avLst/>
          </a:prstGeom>
          <a:solidFill>
            <a:srgbClr val="0E7C86"/>
          </a:solidFill>
          <a:ln/>
        </p:spPr>
      </p:sp>
      <p:sp>
        <p:nvSpPr>
          <p:cNvPr id="18" name="Label4"/>
          <p:cNvSpPr/>
          <p:nvPr/>
        </p:nvSpPr>
        <p:spPr>
          <a:xfrm>
            <a:off x="8595360" y="48463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Bar Chart</a:t>
            </a:r>
          </a:p>
          <a:p>
            <a:pPr marL="0" indent="0">
              <a:buNone/>
            </a:pPr>
            <a:r>
              <a:rPr lang="en-US" sz="1000" dirty="0">
                <a:solidFill>
                  <a:srgbClr val="4B5563"/>
                </a:solidFill>
                <a:latin typeface="Calibri" pitchFamily="34" charset="0"/>
              </a:rPr>
              <a:t>Top 10 products ranked by sales amount</a:t>
            </a:r>
          </a:p>
        </p:txBody>
      </p:sp>
      <p:sp>
        <p:nvSpPr>
          <p:cNvPr id="19" name="Dot5"/>
          <p:cNvSpPr/>
          <p:nvPr/>
        </p:nvSpPr>
        <p:spPr>
          <a:xfrm>
            <a:off x="8412480" y="5623560"/>
            <a:ext cx="91440" cy="91440"/>
          </a:xfrm>
          <a:prstGeom prst="ellipse">
            <a:avLst/>
          </a:prstGeom>
          <a:solidFill>
            <a:srgbClr val="142850"/>
          </a:solidFill>
          <a:ln/>
        </p:spPr>
      </p:sp>
      <p:sp>
        <p:nvSpPr>
          <p:cNvPr id="20" name="Label5"/>
          <p:cNvSpPr/>
          <p:nvPr/>
        </p:nvSpPr>
        <p:spPr>
          <a:xfrm>
            <a:off x="8595360" y="55321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Slicers</a:t>
            </a:r>
          </a:p>
          <a:p>
            <a:pPr marL="0" indent="0">
              <a:buNone/>
            </a:pPr>
            <a:r>
              <a:rPr lang="en-US" sz="1000" dirty="0">
                <a:solidFill>
                  <a:srgbClr val="4B5563"/>
                </a:solidFill>
                <a:latin typeface="Calibri" pitchFamily="34" charset="0"/>
              </a:rPr>
              <a:t>Filter the view by Quarter, Year &amp; Region</a:t>
            </a:r>
          </a:p>
        </p:txBody>
      </p:sp>
      <p:sp>
        <p:nvSpPr>
          <p:cNvPr id="5" name="Text 2"/>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6" name="Text 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10</a:t>
            </a:r>
            <a:endParaRPr lang="en-US" sz="900" dirty="0"/>
          </a:p>
        </p:txBody>
      </p:sp>
      <p:sp>
        <p:nvSpPr>
          <p:cNvPr id="22" name="Shape 0">
            <a:extLst>
              <a:ext uri="{FF2B5EF4-FFF2-40B4-BE49-F238E27FC236}">
                <a16:creationId xmlns:a16="http://schemas.microsoft.com/office/drawing/2014/main" id="{8E0ED4A5-9D69-C163-5631-7157D52E5E7A}"/>
              </a:ext>
            </a:extLst>
          </p:cNvPr>
          <p:cNvSpPr/>
          <p:nvPr/>
        </p:nvSpPr>
        <p:spPr>
          <a:xfrm>
            <a:off x="9966960" y="-1005840"/>
            <a:ext cx="3840480" cy="3840480"/>
          </a:xfrm>
          <a:prstGeom prst="ellipse">
            <a:avLst/>
          </a:prstGeom>
          <a:solidFill>
            <a:srgbClr val="0E7C86">
              <a:alpha val="22000"/>
            </a:srgbClr>
          </a:solidFill>
          <a:ln/>
        </p:spPr>
      </p:sp>
      <p:sp>
        <p:nvSpPr>
          <p:cNvPr id="24" name="Shape 1">
            <a:extLst>
              <a:ext uri="{FF2B5EF4-FFF2-40B4-BE49-F238E27FC236}">
                <a16:creationId xmlns:a16="http://schemas.microsoft.com/office/drawing/2014/main" id="{2F626D5F-AC2C-2F84-4325-6EB5EED5CA6D}"/>
              </a:ext>
            </a:extLst>
          </p:cNvPr>
          <p:cNvSpPr/>
          <p:nvPr/>
        </p:nvSpPr>
        <p:spPr>
          <a:xfrm>
            <a:off x="10972800" y="4206240"/>
            <a:ext cx="2743200" cy="2743200"/>
          </a:xfrm>
          <a:prstGeom prst="ellipse">
            <a:avLst/>
          </a:prstGeom>
          <a:solidFill>
            <a:srgbClr val="E8871E">
              <a:alpha val="20000"/>
            </a:srgbClr>
          </a:solidFill>
          <a:ln/>
        </p:spPr>
      </p:sp>
      <p:sp>
        <p:nvSpPr>
          <p:cNvPr id="26" name="Shape 2">
            <a:extLst>
              <a:ext uri="{FF2B5EF4-FFF2-40B4-BE49-F238E27FC236}">
                <a16:creationId xmlns:a16="http://schemas.microsoft.com/office/drawing/2014/main" id="{E38EFB1E-BB8F-431A-1A99-034BC0E670FE}"/>
              </a:ext>
            </a:extLst>
          </p:cNvPr>
          <p:cNvSpPr/>
          <p:nvPr/>
        </p:nvSpPr>
        <p:spPr>
          <a:xfrm>
            <a:off x="-1097280" y="5120640"/>
            <a:ext cx="3108960" cy="3108960"/>
          </a:xfrm>
          <a:prstGeom prst="ellipse">
            <a:avLst/>
          </a:prstGeom>
          <a:solidFill>
            <a:srgbClr val="0E7C86">
              <a:alpha val="18000"/>
            </a:srgbClr>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POWER BI DASHBOARD II</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Regional &amp; customer insights with interactive slicers</a:t>
            </a:r>
            <a:endParaRPr lang="en-US" sz="1300" dirty="0"/>
          </a:p>
        </p:txBody>
      </p:sp>
      <p:pic>
        <p:nvPicPr>
          <p:cNvPr id="4" name="Image 0" descr="/home/claude/assets/dash2.png"/>
          <p:cNvPicPr>
            <a:picLocks noChangeAspect="1"/>
          </p:cNvPicPr>
          <p:nvPr/>
        </p:nvPicPr>
        <p:blipFill>
          <a:blip r:embed="rId3"/>
          <a:srcRect/>
          <a:stretch/>
        </p:blipFill>
        <p:spPr>
          <a:xfrm>
            <a:off x="4236103" y="1444752"/>
            <a:ext cx="7850270" cy="4610815"/>
          </a:xfrm>
          <a:prstGeom prst="rect">
            <a:avLst/>
          </a:prstGeom>
        </p:spPr>
      </p:pic>
      <p:sp>
        <p:nvSpPr>
          <p:cNvPr id="7" name="PanelCard"/>
          <p:cNvSpPr/>
          <p:nvPr/>
        </p:nvSpPr>
        <p:spPr>
          <a:xfrm>
            <a:off x="487063" y="1417320"/>
            <a:ext cx="3474720" cy="4892040"/>
          </a:xfrm>
          <a:prstGeom prst="roundRect">
            <a:avLst>
              <a:gd name="adj" fmla="val 4500"/>
            </a:avLst>
          </a:prstGeom>
          <a:solidFill>
            <a:srgbClr val="F7F9FC"/>
          </a:solidFill>
          <a:ln w="9525">
            <a:solidFill>
              <a:srgbClr val="E2E8F0"/>
            </a:solidFill>
          </a:ln>
          <a:effectLst>
            <a:outerShdw blurRad="90000" dist="30000" dir="5400000" rotWithShape="0">
              <a:srgbClr val="142850">
                <a:alpha val="14000"/>
              </a:srgbClr>
            </a:outerShdw>
          </a:effectLst>
        </p:spPr>
        <p:txBody>
          <a:bodyPr/>
          <a:lstStyle/>
          <a:p>
            <a:endParaRPr lang="en-US"/>
          </a:p>
        </p:txBody>
      </p:sp>
      <p:sp>
        <p:nvSpPr>
          <p:cNvPr id="8" name="PanelTitle"/>
          <p:cNvSpPr/>
          <p:nvPr/>
        </p:nvSpPr>
        <p:spPr>
          <a:xfrm>
            <a:off x="761383" y="1691640"/>
            <a:ext cx="292608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rPr>
              <a:t>Visualizations Used</a:t>
            </a:r>
          </a:p>
        </p:txBody>
      </p:sp>
      <p:sp>
        <p:nvSpPr>
          <p:cNvPr id="9" name="Dot0"/>
          <p:cNvSpPr/>
          <p:nvPr/>
        </p:nvSpPr>
        <p:spPr>
          <a:xfrm>
            <a:off x="761383" y="2194560"/>
            <a:ext cx="91440" cy="91440"/>
          </a:xfrm>
          <a:prstGeom prst="ellipse">
            <a:avLst/>
          </a:prstGeom>
          <a:solidFill>
            <a:srgbClr val="E8871E"/>
          </a:solidFill>
          <a:ln/>
        </p:spPr>
      </p:sp>
      <p:sp>
        <p:nvSpPr>
          <p:cNvPr id="10" name="Label0"/>
          <p:cNvSpPr/>
          <p:nvPr/>
        </p:nvSpPr>
        <p:spPr>
          <a:xfrm>
            <a:off x="944263" y="21031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KPI Strip</a:t>
            </a:r>
          </a:p>
          <a:p>
            <a:pPr marL="0" indent="0">
              <a:buNone/>
            </a:pPr>
            <a:r>
              <a:rPr lang="en-US" sz="1000" dirty="0">
                <a:solidFill>
                  <a:srgbClr val="4B5563"/>
                </a:solidFill>
                <a:latin typeface="Calibri" pitchFamily="34" charset="0"/>
              </a:rPr>
              <a:t>Sales, Cost, Profit, Quantity &amp; Profit Margin</a:t>
            </a:r>
          </a:p>
        </p:txBody>
      </p:sp>
      <p:sp>
        <p:nvSpPr>
          <p:cNvPr id="11" name="Dot1"/>
          <p:cNvSpPr/>
          <p:nvPr/>
        </p:nvSpPr>
        <p:spPr>
          <a:xfrm>
            <a:off x="761383" y="2880360"/>
            <a:ext cx="91440" cy="91440"/>
          </a:xfrm>
          <a:prstGeom prst="ellipse">
            <a:avLst/>
          </a:prstGeom>
          <a:solidFill>
            <a:srgbClr val="0E7C86"/>
          </a:solidFill>
          <a:ln/>
        </p:spPr>
      </p:sp>
      <p:sp>
        <p:nvSpPr>
          <p:cNvPr id="12" name="Label1"/>
          <p:cNvSpPr/>
          <p:nvPr/>
        </p:nvSpPr>
        <p:spPr>
          <a:xfrm>
            <a:off x="944263" y="27889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Bar Chart</a:t>
            </a:r>
          </a:p>
          <a:p>
            <a:pPr marL="0" indent="0">
              <a:buNone/>
            </a:pPr>
            <a:r>
              <a:rPr lang="en-US" sz="1000" dirty="0">
                <a:solidFill>
                  <a:srgbClr val="4B5563"/>
                </a:solidFill>
                <a:latin typeface="Calibri" pitchFamily="34" charset="0"/>
              </a:rPr>
              <a:t>Year-wise sales split by sales territory</a:t>
            </a:r>
          </a:p>
        </p:txBody>
      </p:sp>
      <p:sp>
        <p:nvSpPr>
          <p:cNvPr id="13" name="Dot2"/>
          <p:cNvSpPr/>
          <p:nvPr/>
        </p:nvSpPr>
        <p:spPr>
          <a:xfrm>
            <a:off x="761383" y="3566160"/>
            <a:ext cx="91440" cy="91440"/>
          </a:xfrm>
          <a:prstGeom prst="ellipse">
            <a:avLst/>
          </a:prstGeom>
          <a:solidFill>
            <a:srgbClr val="142850"/>
          </a:solidFill>
          <a:ln/>
        </p:spPr>
      </p:sp>
      <p:sp>
        <p:nvSpPr>
          <p:cNvPr id="14" name="Label2"/>
          <p:cNvSpPr/>
          <p:nvPr/>
        </p:nvSpPr>
        <p:spPr>
          <a:xfrm>
            <a:off x="944263" y="34747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Line + Pie Charts</a:t>
            </a:r>
          </a:p>
          <a:p>
            <a:pPr marL="0" indent="0">
              <a:buNone/>
            </a:pPr>
            <a:r>
              <a:rPr lang="en-US" sz="1000" dirty="0">
                <a:solidFill>
                  <a:srgbClr val="4B5563"/>
                </a:solidFill>
                <a:latin typeface="Calibri" pitchFamily="34" charset="0"/>
              </a:rPr>
              <a:t>Month-wise trend and quarter-wise sales share</a:t>
            </a:r>
          </a:p>
        </p:txBody>
      </p:sp>
      <p:sp>
        <p:nvSpPr>
          <p:cNvPr id="15" name="Dot3"/>
          <p:cNvSpPr/>
          <p:nvPr/>
        </p:nvSpPr>
        <p:spPr>
          <a:xfrm>
            <a:off x="761383" y="4251960"/>
            <a:ext cx="91440" cy="91440"/>
          </a:xfrm>
          <a:prstGeom prst="ellipse">
            <a:avLst/>
          </a:prstGeom>
          <a:solidFill>
            <a:srgbClr val="E8871E"/>
          </a:solidFill>
          <a:ln/>
        </p:spPr>
      </p:sp>
      <p:sp>
        <p:nvSpPr>
          <p:cNvPr id="16" name="Label3"/>
          <p:cNvSpPr/>
          <p:nvPr/>
        </p:nvSpPr>
        <p:spPr>
          <a:xfrm>
            <a:off x="944263" y="41605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Bar Charts</a:t>
            </a:r>
          </a:p>
          <a:p>
            <a:pPr marL="0" indent="0">
              <a:buNone/>
            </a:pPr>
            <a:r>
              <a:rPr lang="en-US" sz="1000" dirty="0">
                <a:solidFill>
                  <a:srgbClr val="4B5563"/>
                </a:solidFill>
                <a:latin typeface="Calibri" pitchFamily="34" charset="0"/>
              </a:rPr>
              <a:t>Top 10 customers and top 10 products by sales</a:t>
            </a:r>
          </a:p>
        </p:txBody>
      </p:sp>
      <p:sp>
        <p:nvSpPr>
          <p:cNvPr id="17" name="Dot4"/>
          <p:cNvSpPr/>
          <p:nvPr/>
        </p:nvSpPr>
        <p:spPr>
          <a:xfrm>
            <a:off x="761383" y="4937760"/>
            <a:ext cx="91440" cy="91440"/>
          </a:xfrm>
          <a:prstGeom prst="ellipse">
            <a:avLst/>
          </a:prstGeom>
          <a:solidFill>
            <a:srgbClr val="0E7C86"/>
          </a:solidFill>
          <a:ln/>
        </p:spPr>
      </p:sp>
      <p:sp>
        <p:nvSpPr>
          <p:cNvPr id="18" name="Label4"/>
          <p:cNvSpPr/>
          <p:nvPr/>
        </p:nvSpPr>
        <p:spPr>
          <a:xfrm>
            <a:off x="944263" y="48463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Combo Chart</a:t>
            </a:r>
          </a:p>
          <a:p>
            <a:pPr marL="0" indent="0">
              <a:buNone/>
            </a:pPr>
            <a:r>
              <a:rPr lang="en-US" sz="1000" dirty="0">
                <a:solidFill>
                  <a:srgbClr val="4B5563"/>
                </a:solidFill>
                <a:latin typeface="Calibri" pitchFamily="34" charset="0"/>
              </a:rPr>
              <a:t>Sales amount vs. production cost by month</a:t>
            </a:r>
          </a:p>
        </p:txBody>
      </p:sp>
      <p:sp>
        <p:nvSpPr>
          <p:cNvPr id="19" name="Dot5"/>
          <p:cNvSpPr/>
          <p:nvPr/>
        </p:nvSpPr>
        <p:spPr>
          <a:xfrm>
            <a:off x="761383" y="5623560"/>
            <a:ext cx="91440" cy="91440"/>
          </a:xfrm>
          <a:prstGeom prst="ellipse">
            <a:avLst/>
          </a:prstGeom>
          <a:solidFill>
            <a:srgbClr val="142850"/>
          </a:solidFill>
          <a:ln/>
        </p:spPr>
      </p:sp>
      <p:sp>
        <p:nvSpPr>
          <p:cNvPr id="20" name="Label5"/>
          <p:cNvSpPr/>
          <p:nvPr/>
        </p:nvSpPr>
        <p:spPr>
          <a:xfrm>
            <a:off x="944263" y="55321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Slicers</a:t>
            </a:r>
          </a:p>
          <a:p>
            <a:pPr marL="0" indent="0">
              <a:buNone/>
            </a:pPr>
            <a:r>
              <a:rPr lang="en-US" sz="1000" dirty="0">
                <a:solidFill>
                  <a:srgbClr val="4B5563"/>
                </a:solidFill>
                <a:latin typeface="Calibri" pitchFamily="34" charset="0"/>
              </a:rPr>
              <a:t>Region, Year &amp; Quarter interactive filters</a:t>
            </a:r>
          </a:p>
        </p:txBody>
      </p:sp>
      <p:sp>
        <p:nvSpPr>
          <p:cNvPr id="5" name="Text 2"/>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6" name="Text 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11</a:t>
            </a:r>
            <a:endParaRPr lang="en-US" sz="900" dirty="0"/>
          </a:p>
        </p:txBody>
      </p:sp>
      <p:sp>
        <p:nvSpPr>
          <p:cNvPr id="22" name="Shape 0">
            <a:extLst>
              <a:ext uri="{FF2B5EF4-FFF2-40B4-BE49-F238E27FC236}">
                <a16:creationId xmlns:a16="http://schemas.microsoft.com/office/drawing/2014/main" id="{B0045520-302A-1FE8-297B-3F2855D072A6}"/>
              </a:ext>
            </a:extLst>
          </p:cNvPr>
          <p:cNvSpPr/>
          <p:nvPr/>
        </p:nvSpPr>
        <p:spPr>
          <a:xfrm>
            <a:off x="-2196465" y="-2072640"/>
            <a:ext cx="3840480" cy="3840480"/>
          </a:xfrm>
          <a:prstGeom prst="ellipse">
            <a:avLst/>
          </a:prstGeom>
          <a:solidFill>
            <a:srgbClr val="0E7C86">
              <a:alpha val="22000"/>
            </a:srgbClr>
          </a:solidFill>
          <a:ln/>
        </p:spPr>
      </p:sp>
      <p:sp>
        <p:nvSpPr>
          <p:cNvPr id="24" name="Shape 1">
            <a:extLst>
              <a:ext uri="{FF2B5EF4-FFF2-40B4-BE49-F238E27FC236}">
                <a16:creationId xmlns:a16="http://schemas.microsoft.com/office/drawing/2014/main" id="{7126AC91-01EA-897C-E9E1-496D0EE3B431}"/>
              </a:ext>
            </a:extLst>
          </p:cNvPr>
          <p:cNvSpPr/>
          <p:nvPr/>
        </p:nvSpPr>
        <p:spPr>
          <a:xfrm>
            <a:off x="-3636498" y="5425440"/>
            <a:ext cx="5274798" cy="5242560"/>
          </a:xfrm>
          <a:prstGeom prst="ellipse">
            <a:avLst/>
          </a:prstGeom>
          <a:solidFill>
            <a:srgbClr val="E8871E">
              <a:alpha val="20000"/>
            </a:srgbClr>
          </a:solidFill>
          <a:ln/>
        </p:spPr>
      </p:sp>
      <p:sp>
        <p:nvSpPr>
          <p:cNvPr id="26" name="Shape 2">
            <a:extLst>
              <a:ext uri="{FF2B5EF4-FFF2-40B4-BE49-F238E27FC236}">
                <a16:creationId xmlns:a16="http://schemas.microsoft.com/office/drawing/2014/main" id="{2654BE9F-E519-0860-96B6-3E3E6608D6B5}"/>
              </a:ext>
            </a:extLst>
          </p:cNvPr>
          <p:cNvSpPr/>
          <p:nvPr/>
        </p:nvSpPr>
        <p:spPr>
          <a:xfrm>
            <a:off x="11247737" y="5669280"/>
            <a:ext cx="2631538" cy="2616591"/>
          </a:xfrm>
          <a:prstGeom prst="ellipse">
            <a:avLst/>
          </a:prstGeom>
          <a:solidFill>
            <a:srgbClr val="0E7C86">
              <a:alpha val="18000"/>
            </a:srgbClr>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EXCEL DASHBOARD III</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Sales performance summary — year, quarter &amp; product view</a:t>
            </a:r>
            <a:endParaRPr lang="en-US" sz="1300" dirty="0"/>
          </a:p>
        </p:txBody>
      </p:sp>
      <p:pic>
        <p:nvPicPr>
          <p:cNvPr id="4" name="Image 0" descr="/home/claude/assets/dash3.png"/>
          <p:cNvPicPr>
            <a:picLocks noChangeAspect="1"/>
          </p:cNvPicPr>
          <p:nvPr/>
        </p:nvPicPr>
        <p:blipFill>
          <a:blip r:embed="rId3"/>
          <a:srcRect l="5580" t="5607"/>
          <a:stretch>
            <a:fillRect/>
          </a:stretch>
        </p:blipFill>
        <p:spPr>
          <a:xfrm>
            <a:off x="727787" y="1533013"/>
            <a:ext cx="6774025" cy="4682808"/>
          </a:xfrm>
          <a:prstGeom prst="rect">
            <a:avLst/>
          </a:prstGeom>
        </p:spPr>
      </p:pic>
      <p:sp>
        <p:nvSpPr>
          <p:cNvPr id="7" name="PanelCard"/>
          <p:cNvSpPr/>
          <p:nvPr/>
        </p:nvSpPr>
        <p:spPr>
          <a:xfrm>
            <a:off x="8138160" y="1417320"/>
            <a:ext cx="3474720" cy="4892040"/>
          </a:xfrm>
          <a:prstGeom prst="roundRect">
            <a:avLst>
              <a:gd name="adj" fmla="val 4500"/>
            </a:avLst>
          </a:prstGeom>
          <a:solidFill>
            <a:srgbClr val="F7F9FC"/>
          </a:solidFill>
          <a:ln w="9525">
            <a:solidFill>
              <a:srgbClr val="E2E8F0"/>
            </a:solidFill>
          </a:ln>
          <a:effectLst>
            <a:outerShdw blurRad="90000" dist="30000" dir="5400000" rotWithShape="0">
              <a:srgbClr val="142850">
                <a:alpha val="14000"/>
              </a:srgbClr>
            </a:outerShdw>
          </a:effectLst>
        </p:spPr>
        <p:txBody>
          <a:bodyPr/>
          <a:lstStyle/>
          <a:p>
            <a:endParaRPr lang="en-US"/>
          </a:p>
        </p:txBody>
      </p:sp>
      <p:sp>
        <p:nvSpPr>
          <p:cNvPr id="8" name="PanelTitle"/>
          <p:cNvSpPr/>
          <p:nvPr/>
        </p:nvSpPr>
        <p:spPr>
          <a:xfrm>
            <a:off x="8412480" y="1691640"/>
            <a:ext cx="292608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rPr>
              <a:t>Visualizations Used</a:t>
            </a:r>
          </a:p>
        </p:txBody>
      </p:sp>
      <p:sp>
        <p:nvSpPr>
          <p:cNvPr id="9" name="Dot0"/>
          <p:cNvSpPr/>
          <p:nvPr/>
        </p:nvSpPr>
        <p:spPr>
          <a:xfrm>
            <a:off x="8412480" y="2194560"/>
            <a:ext cx="91440" cy="91440"/>
          </a:xfrm>
          <a:prstGeom prst="ellipse">
            <a:avLst/>
          </a:prstGeom>
          <a:solidFill>
            <a:srgbClr val="E8871E"/>
          </a:solidFill>
          <a:ln/>
        </p:spPr>
      </p:sp>
      <p:sp>
        <p:nvSpPr>
          <p:cNvPr id="10" name="Label0"/>
          <p:cNvSpPr/>
          <p:nvPr/>
        </p:nvSpPr>
        <p:spPr>
          <a:xfrm>
            <a:off x="8595360" y="21031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KPI Cards</a:t>
            </a:r>
          </a:p>
          <a:p>
            <a:pPr marL="0" indent="0">
              <a:buNone/>
            </a:pPr>
            <a:r>
              <a:rPr lang="en-US" sz="1000" dirty="0">
                <a:solidFill>
                  <a:srgbClr val="4B5563"/>
                </a:solidFill>
                <a:latin typeface="Calibri" pitchFamily="34" charset="0"/>
              </a:rPr>
              <a:t>Sum of Sales, Customers, Products &amp; Profit Margin</a:t>
            </a:r>
          </a:p>
        </p:txBody>
      </p:sp>
      <p:sp>
        <p:nvSpPr>
          <p:cNvPr id="11" name="Dot1"/>
          <p:cNvSpPr/>
          <p:nvPr/>
        </p:nvSpPr>
        <p:spPr>
          <a:xfrm>
            <a:off x="8412480" y="2880360"/>
            <a:ext cx="91440" cy="91440"/>
          </a:xfrm>
          <a:prstGeom prst="ellipse">
            <a:avLst/>
          </a:prstGeom>
          <a:solidFill>
            <a:srgbClr val="0E7C86"/>
          </a:solidFill>
          <a:ln/>
        </p:spPr>
      </p:sp>
      <p:sp>
        <p:nvSpPr>
          <p:cNvPr id="12" name="Label1"/>
          <p:cNvSpPr/>
          <p:nvPr/>
        </p:nvSpPr>
        <p:spPr>
          <a:xfrm>
            <a:off x="8595360" y="27889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Bar Chart</a:t>
            </a:r>
          </a:p>
          <a:p>
            <a:pPr marL="0" indent="0">
              <a:buNone/>
            </a:pPr>
            <a:r>
              <a:rPr lang="en-US" sz="1000" dirty="0">
                <a:solidFill>
                  <a:srgbClr val="4B5563"/>
                </a:solidFill>
                <a:latin typeface="Calibri" pitchFamily="34" charset="0"/>
              </a:rPr>
              <a:t>Year-wise sales trend, 2010–2014</a:t>
            </a:r>
          </a:p>
        </p:txBody>
      </p:sp>
      <p:sp>
        <p:nvSpPr>
          <p:cNvPr id="13" name="Dot2"/>
          <p:cNvSpPr/>
          <p:nvPr/>
        </p:nvSpPr>
        <p:spPr>
          <a:xfrm>
            <a:off x="8412480" y="3566160"/>
            <a:ext cx="91440" cy="91440"/>
          </a:xfrm>
          <a:prstGeom prst="ellipse">
            <a:avLst/>
          </a:prstGeom>
          <a:solidFill>
            <a:srgbClr val="142850"/>
          </a:solidFill>
          <a:ln/>
        </p:spPr>
      </p:sp>
      <p:sp>
        <p:nvSpPr>
          <p:cNvPr id="14" name="Label2"/>
          <p:cNvSpPr/>
          <p:nvPr/>
        </p:nvSpPr>
        <p:spPr>
          <a:xfrm>
            <a:off x="8595360" y="34747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Line Chart</a:t>
            </a:r>
          </a:p>
          <a:p>
            <a:pPr marL="0" indent="0">
              <a:buNone/>
            </a:pPr>
            <a:r>
              <a:rPr lang="en-US" sz="1000" dirty="0">
                <a:solidFill>
                  <a:srgbClr val="4B5563"/>
                </a:solidFill>
                <a:latin typeface="Calibri" pitchFamily="34" charset="0"/>
              </a:rPr>
              <a:t>Month-wise sales pattern across the year</a:t>
            </a:r>
          </a:p>
        </p:txBody>
      </p:sp>
      <p:sp>
        <p:nvSpPr>
          <p:cNvPr id="15" name="Dot3"/>
          <p:cNvSpPr/>
          <p:nvPr/>
        </p:nvSpPr>
        <p:spPr>
          <a:xfrm>
            <a:off x="8412480" y="4251960"/>
            <a:ext cx="91440" cy="91440"/>
          </a:xfrm>
          <a:prstGeom prst="ellipse">
            <a:avLst/>
          </a:prstGeom>
          <a:solidFill>
            <a:srgbClr val="E8871E"/>
          </a:solidFill>
          <a:ln/>
        </p:spPr>
      </p:sp>
      <p:sp>
        <p:nvSpPr>
          <p:cNvPr id="16" name="Label3"/>
          <p:cNvSpPr/>
          <p:nvPr/>
        </p:nvSpPr>
        <p:spPr>
          <a:xfrm>
            <a:off x="8595360" y="41605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Pie Chart</a:t>
            </a:r>
          </a:p>
          <a:p>
            <a:pPr marL="0" indent="0">
              <a:buNone/>
            </a:pPr>
            <a:r>
              <a:rPr lang="en-US" sz="1000" dirty="0">
                <a:solidFill>
                  <a:srgbClr val="4B5563"/>
                </a:solidFill>
                <a:latin typeface="Calibri" pitchFamily="34" charset="0"/>
              </a:rPr>
              <a:t>Quarter-wise sales contribution</a:t>
            </a:r>
          </a:p>
        </p:txBody>
      </p:sp>
      <p:sp>
        <p:nvSpPr>
          <p:cNvPr id="17" name="Dot4"/>
          <p:cNvSpPr/>
          <p:nvPr/>
        </p:nvSpPr>
        <p:spPr>
          <a:xfrm>
            <a:off x="8412480" y="4937760"/>
            <a:ext cx="91440" cy="91440"/>
          </a:xfrm>
          <a:prstGeom prst="ellipse">
            <a:avLst/>
          </a:prstGeom>
          <a:solidFill>
            <a:srgbClr val="0E7C86"/>
          </a:solidFill>
          <a:ln/>
        </p:spPr>
      </p:sp>
      <p:sp>
        <p:nvSpPr>
          <p:cNvPr id="18" name="Label4"/>
          <p:cNvSpPr/>
          <p:nvPr/>
        </p:nvSpPr>
        <p:spPr>
          <a:xfrm>
            <a:off x="8595360" y="48463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Bar Chart</a:t>
            </a:r>
          </a:p>
          <a:p>
            <a:pPr marL="0" indent="0">
              <a:buNone/>
            </a:pPr>
            <a:r>
              <a:rPr lang="en-US" sz="1000" dirty="0">
                <a:solidFill>
                  <a:srgbClr val="4B5563"/>
                </a:solidFill>
                <a:latin typeface="Calibri" pitchFamily="34" charset="0"/>
              </a:rPr>
              <a:t>Top 10 products by sales amount</a:t>
            </a:r>
          </a:p>
        </p:txBody>
      </p:sp>
      <p:sp>
        <p:nvSpPr>
          <p:cNvPr id="19" name="Dot5"/>
          <p:cNvSpPr/>
          <p:nvPr/>
        </p:nvSpPr>
        <p:spPr>
          <a:xfrm>
            <a:off x="8412480" y="5623560"/>
            <a:ext cx="91440" cy="91440"/>
          </a:xfrm>
          <a:prstGeom prst="ellipse">
            <a:avLst/>
          </a:prstGeom>
          <a:solidFill>
            <a:srgbClr val="142850"/>
          </a:solidFill>
          <a:ln/>
        </p:spPr>
      </p:sp>
      <p:sp>
        <p:nvSpPr>
          <p:cNvPr id="20" name="Label5"/>
          <p:cNvSpPr/>
          <p:nvPr/>
        </p:nvSpPr>
        <p:spPr>
          <a:xfrm>
            <a:off x="8595360" y="55321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Combo Chart</a:t>
            </a:r>
          </a:p>
          <a:p>
            <a:pPr marL="0" indent="0">
              <a:buNone/>
            </a:pPr>
            <a:r>
              <a:rPr lang="en-US" sz="1000" dirty="0">
                <a:solidFill>
                  <a:srgbClr val="4B5563"/>
                </a:solidFill>
                <a:latin typeface="Calibri" pitchFamily="34" charset="0"/>
              </a:rPr>
              <a:t>Sales vs. production cost with Year &amp; Quarter filters</a:t>
            </a:r>
          </a:p>
        </p:txBody>
      </p:sp>
      <p:sp>
        <p:nvSpPr>
          <p:cNvPr id="5" name="Text 2"/>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6" name="Text 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12</a:t>
            </a:r>
            <a:endParaRPr lang="en-US" sz="900" dirty="0"/>
          </a:p>
        </p:txBody>
      </p:sp>
      <p:sp>
        <p:nvSpPr>
          <p:cNvPr id="22" name="Shape 0">
            <a:extLst>
              <a:ext uri="{FF2B5EF4-FFF2-40B4-BE49-F238E27FC236}">
                <a16:creationId xmlns:a16="http://schemas.microsoft.com/office/drawing/2014/main" id="{7746E19C-4C7C-E476-1836-7F72AA2BC5D6}"/>
              </a:ext>
            </a:extLst>
          </p:cNvPr>
          <p:cNvSpPr/>
          <p:nvPr/>
        </p:nvSpPr>
        <p:spPr>
          <a:xfrm>
            <a:off x="9966960" y="-1005840"/>
            <a:ext cx="3840480" cy="3840480"/>
          </a:xfrm>
          <a:prstGeom prst="ellipse">
            <a:avLst/>
          </a:prstGeom>
          <a:solidFill>
            <a:srgbClr val="0E7C86">
              <a:alpha val="22000"/>
            </a:srgbClr>
          </a:solidFill>
          <a:ln/>
        </p:spPr>
      </p:sp>
      <p:sp>
        <p:nvSpPr>
          <p:cNvPr id="24" name="Shape 1">
            <a:extLst>
              <a:ext uri="{FF2B5EF4-FFF2-40B4-BE49-F238E27FC236}">
                <a16:creationId xmlns:a16="http://schemas.microsoft.com/office/drawing/2014/main" id="{1AB28FBD-7C51-47BA-6A90-98298CE0397E}"/>
              </a:ext>
            </a:extLst>
          </p:cNvPr>
          <p:cNvSpPr/>
          <p:nvPr/>
        </p:nvSpPr>
        <p:spPr>
          <a:xfrm>
            <a:off x="10972800" y="4206240"/>
            <a:ext cx="2743200" cy="2743200"/>
          </a:xfrm>
          <a:prstGeom prst="ellipse">
            <a:avLst/>
          </a:prstGeom>
          <a:solidFill>
            <a:srgbClr val="E8871E">
              <a:alpha val="20000"/>
            </a:srgbClr>
          </a:solidFill>
          <a:ln/>
        </p:spPr>
      </p:sp>
      <p:sp>
        <p:nvSpPr>
          <p:cNvPr id="26" name="Shape 2">
            <a:extLst>
              <a:ext uri="{FF2B5EF4-FFF2-40B4-BE49-F238E27FC236}">
                <a16:creationId xmlns:a16="http://schemas.microsoft.com/office/drawing/2014/main" id="{C60BB828-B8AE-EC01-F925-85177C98B1CB}"/>
              </a:ext>
            </a:extLst>
          </p:cNvPr>
          <p:cNvSpPr/>
          <p:nvPr/>
        </p:nvSpPr>
        <p:spPr>
          <a:xfrm>
            <a:off x="-1097280" y="5120640"/>
            <a:ext cx="3108960" cy="3108960"/>
          </a:xfrm>
          <a:prstGeom prst="ellipse">
            <a:avLst/>
          </a:prstGeom>
          <a:solidFill>
            <a:srgbClr val="0E7C86">
              <a:alpha val="18000"/>
            </a:srgbClr>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KEY INSIGHTS</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AdventureWorks sales analysis | 2010 – 2014</a:t>
            </a:r>
            <a:endParaRPr lang="en-US" sz="1300" dirty="0"/>
          </a:p>
        </p:txBody>
      </p:sp>
      <p:sp>
        <p:nvSpPr>
          <p:cNvPr id="4" name="Shape 2"/>
          <p:cNvSpPr/>
          <p:nvPr/>
        </p:nvSpPr>
        <p:spPr>
          <a:xfrm>
            <a:off x="548640" y="1463040"/>
            <a:ext cx="2103120" cy="914400"/>
          </a:xfrm>
          <a:prstGeom prst="roundRect">
            <a:avLst>
              <a:gd name="adj" fmla="val 6000"/>
            </a:avLst>
          </a:prstGeom>
          <a:solidFill>
            <a:srgbClr val="0E7C86"/>
          </a:solidFill>
          <a:ln/>
        </p:spPr>
      </p:sp>
      <p:sp>
        <p:nvSpPr>
          <p:cNvPr id="5" name="Text 3"/>
          <p:cNvSpPr/>
          <p:nvPr/>
        </p:nvSpPr>
        <p:spPr>
          <a:xfrm>
            <a:off x="548640" y="1536192"/>
            <a:ext cx="2103120" cy="50292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29.36M</a:t>
            </a:r>
            <a:endParaRPr lang="en-US" sz="2100" dirty="0"/>
          </a:p>
        </p:txBody>
      </p:sp>
      <p:sp>
        <p:nvSpPr>
          <p:cNvPr id="6" name="Text 4"/>
          <p:cNvSpPr/>
          <p:nvPr/>
        </p:nvSpPr>
        <p:spPr>
          <a:xfrm>
            <a:off x="548640" y="2039112"/>
            <a:ext cx="21031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TOTAL SALES</a:t>
            </a:r>
            <a:endParaRPr lang="en-US" sz="1000" dirty="0"/>
          </a:p>
        </p:txBody>
      </p:sp>
      <p:sp>
        <p:nvSpPr>
          <p:cNvPr id="7" name="Shape 5"/>
          <p:cNvSpPr/>
          <p:nvPr/>
        </p:nvSpPr>
        <p:spPr>
          <a:xfrm>
            <a:off x="2816352" y="1463040"/>
            <a:ext cx="2103120" cy="914400"/>
          </a:xfrm>
          <a:prstGeom prst="roundRect">
            <a:avLst>
              <a:gd name="adj" fmla="val 6000"/>
            </a:avLst>
          </a:prstGeom>
          <a:solidFill>
            <a:srgbClr val="142850"/>
          </a:solidFill>
          <a:ln/>
        </p:spPr>
      </p:sp>
      <p:sp>
        <p:nvSpPr>
          <p:cNvPr id="8" name="Text 6"/>
          <p:cNvSpPr/>
          <p:nvPr/>
        </p:nvSpPr>
        <p:spPr>
          <a:xfrm>
            <a:off x="2816352" y="1536192"/>
            <a:ext cx="2103120" cy="50292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12.08M</a:t>
            </a:r>
            <a:endParaRPr lang="en-US" sz="2100" dirty="0"/>
          </a:p>
        </p:txBody>
      </p:sp>
      <p:sp>
        <p:nvSpPr>
          <p:cNvPr id="9" name="Text 7"/>
          <p:cNvSpPr/>
          <p:nvPr/>
        </p:nvSpPr>
        <p:spPr>
          <a:xfrm>
            <a:off x="2816352" y="2039112"/>
            <a:ext cx="21031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TOTAL PROFIT</a:t>
            </a:r>
            <a:endParaRPr lang="en-US" sz="1000" dirty="0"/>
          </a:p>
        </p:txBody>
      </p:sp>
      <p:sp>
        <p:nvSpPr>
          <p:cNvPr id="10" name="Shape 8"/>
          <p:cNvSpPr/>
          <p:nvPr/>
        </p:nvSpPr>
        <p:spPr>
          <a:xfrm>
            <a:off x="5084064" y="1463040"/>
            <a:ext cx="2103120" cy="914400"/>
          </a:xfrm>
          <a:prstGeom prst="roundRect">
            <a:avLst>
              <a:gd name="adj" fmla="val 6000"/>
            </a:avLst>
          </a:prstGeom>
          <a:solidFill>
            <a:srgbClr val="E8871E"/>
          </a:solidFill>
          <a:ln/>
        </p:spPr>
      </p:sp>
      <p:sp>
        <p:nvSpPr>
          <p:cNvPr id="11" name="Text 9"/>
          <p:cNvSpPr/>
          <p:nvPr/>
        </p:nvSpPr>
        <p:spPr>
          <a:xfrm>
            <a:off x="5084064" y="1536192"/>
            <a:ext cx="2103120" cy="50292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60.40K</a:t>
            </a:r>
            <a:endParaRPr lang="en-US" sz="2100" dirty="0"/>
          </a:p>
        </p:txBody>
      </p:sp>
      <p:sp>
        <p:nvSpPr>
          <p:cNvPr id="12" name="Text 10"/>
          <p:cNvSpPr/>
          <p:nvPr/>
        </p:nvSpPr>
        <p:spPr>
          <a:xfrm>
            <a:off x="5084064" y="2039112"/>
            <a:ext cx="21031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TOTAL ORDERS</a:t>
            </a:r>
            <a:endParaRPr lang="en-US" sz="1000" dirty="0"/>
          </a:p>
        </p:txBody>
      </p:sp>
      <p:sp>
        <p:nvSpPr>
          <p:cNvPr id="13" name="Shape 11"/>
          <p:cNvSpPr/>
          <p:nvPr/>
        </p:nvSpPr>
        <p:spPr>
          <a:xfrm>
            <a:off x="7351776" y="1463040"/>
            <a:ext cx="2103120" cy="914400"/>
          </a:xfrm>
          <a:prstGeom prst="roundRect">
            <a:avLst>
              <a:gd name="adj" fmla="val 6000"/>
            </a:avLst>
          </a:prstGeom>
          <a:solidFill>
            <a:srgbClr val="0E7C86"/>
          </a:solidFill>
          <a:ln/>
        </p:spPr>
      </p:sp>
      <p:sp>
        <p:nvSpPr>
          <p:cNvPr id="14" name="Text 12"/>
          <p:cNvSpPr/>
          <p:nvPr/>
        </p:nvSpPr>
        <p:spPr>
          <a:xfrm>
            <a:off x="7351776" y="1536192"/>
            <a:ext cx="2103120" cy="50292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41.15%</a:t>
            </a:r>
            <a:endParaRPr lang="en-US" sz="2100" dirty="0"/>
          </a:p>
        </p:txBody>
      </p:sp>
      <p:sp>
        <p:nvSpPr>
          <p:cNvPr id="15" name="Text 13"/>
          <p:cNvSpPr/>
          <p:nvPr/>
        </p:nvSpPr>
        <p:spPr>
          <a:xfrm>
            <a:off x="7351776" y="2039112"/>
            <a:ext cx="21031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PROFIT MARGIN</a:t>
            </a:r>
            <a:endParaRPr lang="en-US" sz="1000" dirty="0"/>
          </a:p>
        </p:txBody>
      </p:sp>
      <p:sp>
        <p:nvSpPr>
          <p:cNvPr id="16" name="Shape 14"/>
          <p:cNvSpPr/>
          <p:nvPr/>
        </p:nvSpPr>
        <p:spPr>
          <a:xfrm>
            <a:off x="9619488" y="1463040"/>
            <a:ext cx="2103120" cy="914400"/>
          </a:xfrm>
          <a:prstGeom prst="roundRect">
            <a:avLst>
              <a:gd name="adj" fmla="val 6000"/>
            </a:avLst>
          </a:prstGeom>
          <a:solidFill>
            <a:srgbClr val="142850"/>
          </a:solidFill>
          <a:ln/>
        </p:spPr>
      </p:sp>
      <p:sp>
        <p:nvSpPr>
          <p:cNvPr id="17" name="Text 15"/>
          <p:cNvSpPr/>
          <p:nvPr/>
        </p:nvSpPr>
        <p:spPr>
          <a:xfrm>
            <a:off x="9619488" y="1536192"/>
            <a:ext cx="2103120" cy="50292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$486.09</a:t>
            </a:r>
            <a:endParaRPr lang="en-US" sz="2100" dirty="0"/>
          </a:p>
        </p:txBody>
      </p:sp>
      <p:sp>
        <p:nvSpPr>
          <p:cNvPr id="18" name="Text 16"/>
          <p:cNvSpPr/>
          <p:nvPr/>
        </p:nvSpPr>
        <p:spPr>
          <a:xfrm>
            <a:off x="9619488" y="2039112"/>
            <a:ext cx="21031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AVG ORDER VALUE</a:t>
            </a:r>
            <a:endParaRPr lang="en-US" sz="1000" dirty="0"/>
          </a:p>
        </p:txBody>
      </p:sp>
      <p:sp>
        <p:nvSpPr>
          <p:cNvPr id="19" name="Shape 17"/>
          <p:cNvSpPr/>
          <p:nvPr/>
        </p:nvSpPr>
        <p:spPr>
          <a:xfrm>
            <a:off x="548640" y="2606040"/>
            <a:ext cx="3611880" cy="1417320"/>
          </a:xfrm>
          <a:prstGeom prst="roundRect">
            <a:avLst>
              <a:gd name="adj" fmla="val 3871"/>
            </a:avLst>
          </a:prstGeom>
          <a:solidFill>
            <a:srgbClr val="F5F7FA"/>
          </a:solidFill>
          <a:ln/>
        </p:spPr>
      </p:sp>
      <p:sp>
        <p:nvSpPr>
          <p:cNvPr id="20" name="Shape 18"/>
          <p:cNvSpPr/>
          <p:nvPr/>
        </p:nvSpPr>
        <p:spPr>
          <a:xfrm>
            <a:off x="731520" y="2770632"/>
            <a:ext cx="365760" cy="365760"/>
          </a:xfrm>
          <a:prstGeom prst="ellipse">
            <a:avLst/>
          </a:prstGeom>
          <a:solidFill>
            <a:srgbClr val="0E7C86"/>
          </a:solidFill>
          <a:ln/>
        </p:spPr>
      </p:sp>
      <p:sp>
        <p:nvSpPr>
          <p:cNvPr id="21" name="Text 19"/>
          <p:cNvSpPr/>
          <p:nvPr/>
        </p:nvSpPr>
        <p:spPr>
          <a:xfrm>
            <a:off x="731520" y="27706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2" name="Text 20"/>
          <p:cNvSpPr/>
          <p:nvPr/>
        </p:nvSpPr>
        <p:spPr>
          <a:xfrm>
            <a:off x="1234440" y="2734056"/>
            <a:ext cx="2743200" cy="365760"/>
          </a:xfrm>
          <a:prstGeom prst="rect">
            <a:avLst/>
          </a:prstGeom>
          <a:noFill/>
          <a:ln/>
        </p:spPr>
        <p:txBody>
          <a:bodyPr wrap="square" rtlCol="0" anchor="ctr"/>
          <a:lstStyle/>
          <a:p>
            <a:pPr marL="0" indent="0">
              <a:buNone/>
            </a:pPr>
            <a:r>
              <a:rPr lang="en-US" sz="1250" b="1" dirty="0">
                <a:solidFill>
                  <a:srgbClr val="142850"/>
                </a:solidFill>
                <a:latin typeface="Cambria" pitchFamily="34" charset="0"/>
                <a:ea typeface="Cambria" pitchFamily="34" charset="-122"/>
                <a:cs typeface="Cambria" pitchFamily="34" charset="-120"/>
              </a:rPr>
              <a:t>Peak Year: 2013</a:t>
            </a:r>
            <a:endParaRPr lang="en-US" sz="1250" dirty="0"/>
          </a:p>
        </p:txBody>
      </p:sp>
      <p:sp>
        <p:nvSpPr>
          <p:cNvPr id="23" name="Text 21"/>
          <p:cNvSpPr/>
          <p:nvPr/>
        </p:nvSpPr>
        <p:spPr>
          <a:xfrm>
            <a:off x="749808" y="3172968"/>
            <a:ext cx="3200400" cy="777240"/>
          </a:xfrm>
          <a:prstGeom prst="rect">
            <a:avLst/>
          </a:prstGeom>
          <a:noFill/>
          <a:ln/>
        </p:spPr>
        <p:txBody>
          <a:bodyPr wrap="square" rtlCol="0" anchor="ctr"/>
          <a:lstStyle/>
          <a:p>
            <a:pPr marL="0" indent="0">
              <a:lnSpc>
                <a:spcPct val="112000"/>
              </a:lnSpc>
              <a:buNone/>
            </a:pPr>
            <a:r>
              <a:rPr lang="en-US" sz="980" dirty="0">
                <a:solidFill>
                  <a:srgbClr val="6B7280"/>
                </a:solidFill>
                <a:latin typeface="Calibri" pitchFamily="34" charset="0"/>
                <a:ea typeface="Calibri" pitchFamily="34" charset="-122"/>
                <a:cs typeface="Calibri" pitchFamily="34" charset="-120"/>
              </a:rPr>
              <a:t>2013 was the highest sales year at 16M — 2.7x higher than 2012, with significant growth from 2011 onward.</a:t>
            </a:r>
            <a:endParaRPr lang="en-US" sz="980" dirty="0"/>
          </a:p>
        </p:txBody>
      </p:sp>
      <p:sp>
        <p:nvSpPr>
          <p:cNvPr id="24" name="Shape 22"/>
          <p:cNvSpPr/>
          <p:nvPr/>
        </p:nvSpPr>
        <p:spPr>
          <a:xfrm>
            <a:off x="4343400" y="2606040"/>
            <a:ext cx="3611880" cy="1417320"/>
          </a:xfrm>
          <a:prstGeom prst="roundRect">
            <a:avLst>
              <a:gd name="adj" fmla="val 3871"/>
            </a:avLst>
          </a:prstGeom>
          <a:solidFill>
            <a:srgbClr val="F5F7FA"/>
          </a:solidFill>
          <a:ln/>
        </p:spPr>
      </p:sp>
      <p:sp>
        <p:nvSpPr>
          <p:cNvPr id="25" name="Shape 23"/>
          <p:cNvSpPr/>
          <p:nvPr/>
        </p:nvSpPr>
        <p:spPr>
          <a:xfrm>
            <a:off x="4526280" y="2770632"/>
            <a:ext cx="365760" cy="365760"/>
          </a:xfrm>
          <a:prstGeom prst="ellipse">
            <a:avLst/>
          </a:prstGeom>
          <a:solidFill>
            <a:srgbClr val="E8871E"/>
          </a:solidFill>
          <a:ln/>
        </p:spPr>
      </p:sp>
      <p:sp>
        <p:nvSpPr>
          <p:cNvPr id="26" name="Text 24"/>
          <p:cNvSpPr/>
          <p:nvPr/>
        </p:nvSpPr>
        <p:spPr>
          <a:xfrm>
            <a:off x="4526280" y="27706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7" name="Text 25"/>
          <p:cNvSpPr/>
          <p:nvPr/>
        </p:nvSpPr>
        <p:spPr>
          <a:xfrm>
            <a:off x="5029200" y="2734056"/>
            <a:ext cx="2743200" cy="365760"/>
          </a:xfrm>
          <a:prstGeom prst="rect">
            <a:avLst/>
          </a:prstGeom>
          <a:noFill/>
          <a:ln/>
        </p:spPr>
        <p:txBody>
          <a:bodyPr wrap="square" rtlCol="0" anchor="ctr"/>
          <a:lstStyle/>
          <a:p>
            <a:pPr marL="0" indent="0">
              <a:buNone/>
            </a:pPr>
            <a:r>
              <a:rPr lang="en-US" sz="1250" b="1" dirty="0">
                <a:solidFill>
                  <a:srgbClr val="142850"/>
                </a:solidFill>
                <a:latin typeface="Cambria" pitchFamily="34" charset="0"/>
                <a:ea typeface="Cambria" pitchFamily="34" charset="-122"/>
                <a:cs typeface="Cambria" pitchFamily="34" charset="-120"/>
              </a:rPr>
              <a:t>Top Region: Southwest</a:t>
            </a:r>
            <a:endParaRPr lang="en-US" sz="1250" dirty="0"/>
          </a:p>
        </p:txBody>
      </p:sp>
      <p:sp>
        <p:nvSpPr>
          <p:cNvPr id="28" name="Text 26"/>
          <p:cNvSpPr/>
          <p:nvPr/>
        </p:nvSpPr>
        <p:spPr>
          <a:xfrm>
            <a:off x="4544568" y="3172968"/>
            <a:ext cx="3200400" cy="777240"/>
          </a:xfrm>
          <a:prstGeom prst="rect">
            <a:avLst/>
          </a:prstGeom>
          <a:noFill/>
          <a:ln/>
        </p:spPr>
        <p:txBody>
          <a:bodyPr wrap="square" rtlCol="0" anchor="ctr"/>
          <a:lstStyle/>
          <a:p>
            <a:pPr marL="0" indent="0">
              <a:lnSpc>
                <a:spcPct val="112000"/>
              </a:lnSpc>
              <a:buNone/>
            </a:pPr>
            <a:r>
              <a:rPr lang="en-US" sz="980" dirty="0">
                <a:solidFill>
                  <a:srgbClr val="6B7280"/>
                </a:solidFill>
                <a:latin typeface="Calibri" pitchFamily="34" charset="0"/>
                <a:ea typeface="Calibri" pitchFamily="34" charset="-122"/>
                <a:cs typeface="Calibri" pitchFamily="34" charset="-120"/>
              </a:rPr>
              <a:t>Southwest USA led all regions; Australia was the top international market with 9.06M in sales.</a:t>
            </a:r>
            <a:endParaRPr lang="en-US" sz="980" dirty="0"/>
          </a:p>
        </p:txBody>
      </p:sp>
      <p:sp>
        <p:nvSpPr>
          <p:cNvPr id="29" name="Shape 27"/>
          <p:cNvSpPr/>
          <p:nvPr/>
        </p:nvSpPr>
        <p:spPr>
          <a:xfrm>
            <a:off x="8138160" y="2606040"/>
            <a:ext cx="3611880" cy="1417320"/>
          </a:xfrm>
          <a:prstGeom prst="roundRect">
            <a:avLst>
              <a:gd name="adj" fmla="val 3871"/>
            </a:avLst>
          </a:prstGeom>
          <a:solidFill>
            <a:srgbClr val="F5F7FA"/>
          </a:solidFill>
          <a:ln/>
        </p:spPr>
      </p:sp>
      <p:sp>
        <p:nvSpPr>
          <p:cNvPr id="30" name="Shape 28"/>
          <p:cNvSpPr/>
          <p:nvPr/>
        </p:nvSpPr>
        <p:spPr>
          <a:xfrm>
            <a:off x="8321040" y="2770632"/>
            <a:ext cx="365760" cy="365760"/>
          </a:xfrm>
          <a:prstGeom prst="ellipse">
            <a:avLst/>
          </a:prstGeom>
          <a:solidFill>
            <a:srgbClr val="142850"/>
          </a:solidFill>
          <a:ln/>
        </p:spPr>
      </p:sp>
      <p:sp>
        <p:nvSpPr>
          <p:cNvPr id="31" name="Text 29"/>
          <p:cNvSpPr/>
          <p:nvPr/>
        </p:nvSpPr>
        <p:spPr>
          <a:xfrm>
            <a:off x="8321040" y="27706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32" name="Text 30"/>
          <p:cNvSpPr/>
          <p:nvPr/>
        </p:nvSpPr>
        <p:spPr>
          <a:xfrm>
            <a:off x="8823960" y="2734056"/>
            <a:ext cx="2743200" cy="365760"/>
          </a:xfrm>
          <a:prstGeom prst="rect">
            <a:avLst/>
          </a:prstGeom>
          <a:noFill/>
          <a:ln/>
        </p:spPr>
        <p:txBody>
          <a:bodyPr wrap="square" rtlCol="0" anchor="ctr"/>
          <a:lstStyle/>
          <a:p>
            <a:pPr marL="0" indent="0">
              <a:buNone/>
            </a:pPr>
            <a:r>
              <a:rPr lang="en-US" sz="1250" b="1" dirty="0">
                <a:solidFill>
                  <a:srgbClr val="142850"/>
                </a:solidFill>
                <a:latin typeface="Cambria" pitchFamily="34" charset="0"/>
                <a:ea typeface="Cambria" pitchFamily="34" charset="-122"/>
                <a:cs typeface="Cambria" pitchFamily="34" charset="-120"/>
              </a:rPr>
              <a:t>Top Product</a:t>
            </a:r>
            <a:endParaRPr lang="en-US" sz="1250" dirty="0"/>
          </a:p>
        </p:txBody>
      </p:sp>
      <p:sp>
        <p:nvSpPr>
          <p:cNvPr id="33" name="Text 31"/>
          <p:cNvSpPr/>
          <p:nvPr/>
        </p:nvSpPr>
        <p:spPr>
          <a:xfrm>
            <a:off x="8339328" y="3172968"/>
            <a:ext cx="3200400" cy="777240"/>
          </a:xfrm>
          <a:prstGeom prst="rect">
            <a:avLst/>
          </a:prstGeom>
          <a:noFill/>
          <a:ln/>
        </p:spPr>
        <p:txBody>
          <a:bodyPr wrap="square" rtlCol="0" anchor="ctr"/>
          <a:lstStyle/>
          <a:p>
            <a:pPr marL="0" indent="0">
              <a:lnSpc>
                <a:spcPct val="112000"/>
              </a:lnSpc>
              <a:buNone/>
            </a:pPr>
            <a:r>
              <a:rPr lang="en-US" sz="980" dirty="0">
                <a:solidFill>
                  <a:srgbClr val="6B7280"/>
                </a:solidFill>
                <a:latin typeface="Calibri" pitchFamily="34" charset="0"/>
                <a:ea typeface="Calibri" pitchFamily="34" charset="-122"/>
                <a:cs typeface="Calibri" pitchFamily="34" charset="-120"/>
              </a:rPr>
              <a:t>Mountain-200 Black (42) was the best seller at 1.37M — mountain bikes dominate the top 10 products.</a:t>
            </a:r>
            <a:endParaRPr lang="en-US" sz="980" dirty="0"/>
          </a:p>
        </p:txBody>
      </p:sp>
      <p:sp>
        <p:nvSpPr>
          <p:cNvPr id="34" name="Shape 32"/>
          <p:cNvSpPr/>
          <p:nvPr/>
        </p:nvSpPr>
        <p:spPr>
          <a:xfrm>
            <a:off x="548640" y="4206240"/>
            <a:ext cx="3611880" cy="1417320"/>
          </a:xfrm>
          <a:prstGeom prst="roundRect">
            <a:avLst>
              <a:gd name="adj" fmla="val 3871"/>
            </a:avLst>
          </a:prstGeom>
          <a:solidFill>
            <a:srgbClr val="F5F7FA"/>
          </a:solidFill>
          <a:ln/>
        </p:spPr>
      </p:sp>
      <p:sp>
        <p:nvSpPr>
          <p:cNvPr id="35" name="Shape 33"/>
          <p:cNvSpPr/>
          <p:nvPr/>
        </p:nvSpPr>
        <p:spPr>
          <a:xfrm>
            <a:off x="731520" y="4370832"/>
            <a:ext cx="365760" cy="365760"/>
          </a:xfrm>
          <a:prstGeom prst="ellipse">
            <a:avLst/>
          </a:prstGeom>
          <a:solidFill>
            <a:srgbClr val="0E7C86"/>
          </a:solidFill>
          <a:ln/>
        </p:spPr>
      </p:sp>
      <p:sp>
        <p:nvSpPr>
          <p:cNvPr id="36" name="Text 34"/>
          <p:cNvSpPr/>
          <p:nvPr/>
        </p:nvSpPr>
        <p:spPr>
          <a:xfrm>
            <a:off x="731520" y="43708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7" name="Text 35"/>
          <p:cNvSpPr/>
          <p:nvPr/>
        </p:nvSpPr>
        <p:spPr>
          <a:xfrm>
            <a:off x="1234440" y="4334256"/>
            <a:ext cx="2743200" cy="365760"/>
          </a:xfrm>
          <a:prstGeom prst="rect">
            <a:avLst/>
          </a:prstGeom>
          <a:noFill/>
          <a:ln/>
        </p:spPr>
        <p:txBody>
          <a:bodyPr wrap="square" rtlCol="0" anchor="ctr"/>
          <a:lstStyle/>
          <a:p>
            <a:pPr marL="0" indent="0">
              <a:buNone/>
            </a:pPr>
            <a:r>
              <a:rPr lang="en-US" sz="1250" b="1" dirty="0">
                <a:solidFill>
                  <a:srgbClr val="142850"/>
                </a:solidFill>
                <a:latin typeface="Cambria" pitchFamily="34" charset="0"/>
                <a:ea typeface="Cambria" pitchFamily="34" charset="-122"/>
                <a:cs typeface="Cambria" pitchFamily="34" charset="-120"/>
              </a:rPr>
              <a:t>Top Customer</a:t>
            </a:r>
            <a:endParaRPr lang="en-US" sz="1250" dirty="0"/>
          </a:p>
        </p:txBody>
      </p:sp>
      <p:sp>
        <p:nvSpPr>
          <p:cNvPr id="38" name="Text 36"/>
          <p:cNvSpPr/>
          <p:nvPr/>
        </p:nvSpPr>
        <p:spPr>
          <a:xfrm>
            <a:off x="749808" y="4773168"/>
            <a:ext cx="3200400" cy="777240"/>
          </a:xfrm>
          <a:prstGeom prst="rect">
            <a:avLst/>
          </a:prstGeom>
          <a:noFill/>
          <a:ln/>
        </p:spPr>
        <p:txBody>
          <a:bodyPr wrap="square" rtlCol="0" anchor="ctr"/>
          <a:lstStyle/>
          <a:p>
            <a:pPr marL="0" indent="0">
              <a:lnSpc>
                <a:spcPct val="112000"/>
              </a:lnSpc>
              <a:buNone/>
            </a:pPr>
            <a:r>
              <a:rPr lang="en-US" sz="980" dirty="0">
                <a:solidFill>
                  <a:srgbClr val="6B7280"/>
                </a:solidFill>
                <a:latin typeface="Calibri" pitchFamily="34" charset="0"/>
                <a:ea typeface="Calibri" pitchFamily="34" charset="-122"/>
                <a:cs typeface="Calibri" pitchFamily="34" charset="-120"/>
              </a:rPr>
              <a:t>Jordan Turner leads with 16.00K in purchases; the top 10 customers are closely ranked between 13–16K.</a:t>
            </a:r>
            <a:endParaRPr lang="en-US" sz="980" dirty="0"/>
          </a:p>
        </p:txBody>
      </p:sp>
      <p:sp>
        <p:nvSpPr>
          <p:cNvPr id="39" name="Shape 37"/>
          <p:cNvSpPr/>
          <p:nvPr/>
        </p:nvSpPr>
        <p:spPr>
          <a:xfrm>
            <a:off x="4343400" y="4206240"/>
            <a:ext cx="3611880" cy="1417320"/>
          </a:xfrm>
          <a:prstGeom prst="roundRect">
            <a:avLst>
              <a:gd name="adj" fmla="val 3871"/>
            </a:avLst>
          </a:prstGeom>
          <a:solidFill>
            <a:srgbClr val="F5F7FA"/>
          </a:solidFill>
          <a:ln/>
        </p:spPr>
      </p:sp>
      <p:sp>
        <p:nvSpPr>
          <p:cNvPr id="40" name="Shape 38"/>
          <p:cNvSpPr/>
          <p:nvPr/>
        </p:nvSpPr>
        <p:spPr>
          <a:xfrm>
            <a:off x="4526280" y="4370832"/>
            <a:ext cx="365760" cy="365760"/>
          </a:xfrm>
          <a:prstGeom prst="ellipse">
            <a:avLst/>
          </a:prstGeom>
          <a:solidFill>
            <a:srgbClr val="E8871E"/>
          </a:solidFill>
          <a:ln/>
        </p:spPr>
      </p:sp>
      <p:sp>
        <p:nvSpPr>
          <p:cNvPr id="41" name="Text 39"/>
          <p:cNvSpPr/>
          <p:nvPr/>
        </p:nvSpPr>
        <p:spPr>
          <a:xfrm>
            <a:off x="4526280" y="43708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42" name="Text 40"/>
          <p:cNvSpPr/>
          <p:nvPr/>
        </p:nvSpPr>
        <p:spPr>
          <a:xfrm>
            <a:off x="5029200" y="4334256"/>
            <a:ext cx="2743200" cy="365760"/>
          </a:xfrm>
          <a:prstGeom prst="rect">
            <a:avLst/>
          </a:prstGeom>
          <a:noFill/>
          <a:ln/>
        </p:spPr>
        <p:txBody>
          <a:bodyPr wrap="square" rtlCol="0" anchor="ctr"/>
          <a:lstStyle/>
          <a:p>
            <a:pPr marL="0" indent="0">
              <a:buNone/>
            </a:pPr>
            <a:r>
              <a:rPr lang="en-US" sz="1250" b="1" dirty="0">
                <a:solidFill>
                  <a:srgbClr val="142850"/>
                </a:solidFill>
                <a:latin typeface="Cambria" pitchFamily="34" charset="0"/>
                <a:ea typeface="Cambria" pitchFamily="34" charset="-122"/>
                <a:cs typeface="Cambria" pitchFamily="34" charset="-120"/>
              </a:rPr>
              <a:t>Q4 Peaks Sales</a:t>
            </a:r>
            <a:endParaRPr lang="en-US" sz="1250" dirty="0"/>
          </a:p>
        </p:txBody>
      </p:sp>
      <p:sp>
        <p:nvSpPr>
          <p:cNvPr id="43" name="Text 41"/>
          <p:cNvSpPr/>
          <p:nvPr/>
        </p:nvSpPr>
        <p:spPr>
          <a:xfrm>
            <a:off x="4544568" y="4773168"/>
            <a:ext cx="3200400" cy="777240"/>
          </a:xfrm>
          <a:prstGeom prst="rect">
            <a:avLst/>
          </a:prstGeom>
          <a:noFill/>
          <a:ln/>
        </p:spPr>
        <p:txBody>
          <a:bodyPr wrap="square" rtlCol="0" anchor="ctr"/>
          <a:lstStyle/>
          <a:p>
            <a:pPr marL="0" indent="0">
              <a:lnSpc>
                <a:spcPct val="112000"/>
              </a:lnSpc>
              <a:buNone/>
            </a:pPr>
            <a:r>
              <a:rPr lang="en-US" sz="980" dirty="0">
                <a:solidFill>
                  <a:srgbClr val="6B7280"/>
                </a:solidFill>
                <a:latin typeface="Calibri" pitchFamily="34" charset="0"/>
                <a:ea typeface="Calibri" pitchFamily="34" charset="-122"/>
                <a:cs typeface="Calibri" pitchFamily="34" charset="-120"/>
              </a:rPr>
              <a:t>Q4 is consistently the strongest quarter — the holiday-season effect is visible across all years.</a:t>
            </a:r>
            <a:endParaRPr lang="en-US" sz="980" dirty="0"/>
          </a:p>
        </p:txBody>
      </p:sp>
      <p:sp>
        <p:nvSpPr>
          <p:cNvPr id="44" name="Shape 42"/>
          <p:cNvSpPr/>
          <p:nvPr/>
        </p:nvSpPr>
        <p:spPr>
          <a:xfrm>
            <a:off x="8138160" y="4206240"/>
            <a:ext cx="3611880" cy="1417320"/>
          </a:xfrm>
          <a:prstGeom prst="roundRect">
            <a:avLst>
              <a:gd name="adj" fmla="val 3871"/>
            </a:avLst>
          </a:prstGeom>
          <a:solidFill>
            <a:srgbClr val="F5F7FA"/>
          </a:solidFill>
          <a:ln/>
        </p:spPr>
      </p:sp>
      <p:sp>
        <p:nvSpPr>
          <p:cNvPr id="45" name="Shape 43"/>
          <p:cNvSpPr/>
          <p:nvPr/>
        </p:nvSpPr>
        <p:spPr>
          <a:xfrm>
            <a:off x="8321040" y="4370832"/>
            <a:ext cx="365760" cy="365760"/>
          </a:xfrm>
          <a:prstGeom prst="ellipse">
            <a:avLst/>
          </a:prstGeom>
          <a:solidFill>
            <a:srgbClr val="142850"/>
          </a:solidFill>
          <a:ln/>
        </p:spPr>
      </p:sp>
      <p:sp>
        <p:nvSpPr>
          <p:cNvPr id="46" name="Text 44"/>
          <p:cNvSpPr/>
          <p:nvPr/>
        </p:nvSpPr>
        <p:spPr>
          <a:xfrm>
            <a:off x="8321040" y="43708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47" name="Text 45"/>
          <p:cNvSpPr/>
          <p:nvPr/>
        </p:nvSpPr>
        <p:spPr>
          <a:xfrm>
            <a:off x="8823960" y="4334256"/>
            <a:ext cx="2743200" cy="365760"/>
          </a:xfrm>
          <a:prstGeom prst="rect">
            <a:avLst/>
          </a:prstGeom>
          <a:noFill/>
          <a:ln/>
        </p:spPr>
        <p:txBody>
          <a:bodyPr wrap="square" rtlCol="0" anchor="ctr"/>
          <a:lstStyle/>
          <a:p>
            <a:pPr marL="0" indent="0">
              <a:buNone/>
            </a:pPr>
            <a:r>
              <a:rPr lang="en-US" sz="1250" b="1" dirty="0">
                <a:solidFill>
                  <a:srgbClr val="142850"/>
                </a:solidFill>
                <a:latin typeface="Cambria" pitchFamily="34" charset="0"/>
                <a:ea typeface="Cambria" pitchFamily="34" charset="-122"/>
                <a:cs typeface="Cambria" pitchFamily="34" charset="-120"/>
              </a:rPr>
              <a:t>Sales &gt; Cost</a:t>
            </a:r>
            <a:endParaRPr lang="en-US" sz="1250" dirty="0"/>
          </a:p>
        </p:txBody>
      </p:sp>
      <p:sp>
        <p:nvSpPr>
          <p:cNvPr id="48" name="Text 46"/>
          <p:cNvSpPr/>
          <p:nvPr/>
        </p:nvSpPr>
        <p:spPr>
          <a:xfrm>
            <a:off x="8339328" y="4773168"/>
            <a:ext cx="3200400" cy="777240"/>
          </a:xfrm>
          <a:prstGeom prst="rect">
            <a:avLst/>
          </a:prstGeom>
          <a:noFill/>
          <a:ln/>
        </p:spPr>
        <p:txBody>
          <a:bodyPr wrap="square" rtlCol="0" anchor="ctr"/>
          <a:lstStyle/>
          <a:p>
            <a:pPr marL="0" indent="0">
              <a:lnSpc>
                <a:spcPct val="112000"/>
              </a:lnSpc>
              <a:buNone/>
            </a:pPr>
            <a:r>
              <a:rPr lang="en-US" sz="980" dirty="0">
                <a:solidFill>
                  <a:srgbClr val="6B7280"/>
                </a:solidFill>
                <a:latin typeface="Calibri" pitchFamily="34" charset="0"/>
                <a:ea typeface="Calibri" pitchFamily="34" charset="-122"/>
                <a:cs typeface="Calibri" pitchFamily="34" charset="-120"/>
              </a:rPr>
              <a:t>Production cost stays well below the sales amount across all months — a healthy, stable margin of 41.15%.</a:t>
            </a:r>
            <a:endParaRPr lang="en-US" sz="980" dirty="0"/>
          </a:p>
        </p:txBody>
      </p:sp>
      <p:sp>
        <p:nvSpPr>
          <p:cNvPr id="49" name="Text 47"/>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50" name="Text 48"/>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4285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TOOLS &amp; TECHNOLOGY STACK</a:t>
            </a:r>
            <a:endParaRPr lang="en-US" sz="2800" dirty="0"/>
          </a:p>
        </p:txBody>
      </p:sp>
      <p:sp>
        <p:nvSpPr>
          <p:cNvPr id="3" name="Text 1"/>
          <p:cNvSpPr/>
          <p:nvPr/>
        </p:nvSpPr>
        <p:spPr>
          <a:xfrm>
            <a:off x="548640" y="987552"/>
            <a:ext cx="10972800" cy="320040"/>
          </a:xfrm>
          <a:prstGeom prst="rect">
            <a:avLst/>
          </a:prstGeom>
          <a:noFill/>
          <a:ln/>
        </p:spPr>
        <p:txBody>
          <a:bodyPr wrap="square" rtlCol="0" anchor="ctr"/>
          <a:lstStyle/>
          <a:p>
            <a:pPr marL="0" indent="0">
              <a:buNone/>
            </a:pPr>
            <a:r>
              <a:rPr lang="en-US" sz="1300" i="1" dirty="0">
                <a:solidFill>
                  <a:srgbClr val="DCEEF0"/>
                </a:solidFill>
                <a:latin typeface="Calibri" pitchFamily="34" charset="0"/>
                <a:ea typeface="Calibri" pitchFamily="34" charset="-122"/>
                <a:cs typeface="Calibri" pitchFamily="34" charset="-120"/>
              </a:rPr>
              <a:t>The full analytics toolkit used across this project</a:t>
            </a:r>
            <a:endParaRPr lang="en-US" sz="1300" dirty="0"/>
          </a:p>
        </p:txBody>
      </p:sp>
      <p:sp>
        <p:nvSpPr>
          <p:cNvPr id="4" name="Shape 2"/>
          <p:cNvSpPr/>
          <p:nvPr/>
        </p:nvSpPr>
        <p:spPr>
          <a:xfrm>
            <a:off x="548640" y="1600200"/>
            <a:ext cx="2606040" cy="4023360"/>
          </a:xfrm>
          <a:prstGeom prst="roundRect">
            <a:avLst>
              <a:gd name="adj" fmla="val 2807"/>
            </a:avLst>
          </a:prstGeom>
          <a:solidFill>
            <a:srgbClr val="1B3358"/>
          </a:solidFill>
          <a:ln w="19050">
            <a:solidFill>
              <a:srgbClr val="E8871E"/>
            </a:solidFill>
            <a:prstDash val="solid"/>
          </a:ln>
        </p:spPr>
      </p:sp>
      <p:sp>
        <p:nvSpPr>
          <p:cNvPr id="5" name="Shape 3"/>
          <p:cNvSpPr/>
          <p:nvPr/>
        </p:nvSpPr>
        <p:spPr>
          <a:xfrm>
            <a:off x="1440180" y="1965960"/>
            <a:ext cx="822960" cy="822960"/>
          </a:xfrm>
          <a:prstGeom prst="ellipse">
            <a:avLst/>
          </a:prstGeom>
          <a:solidFill>
            <a:srgbClr val="E8871E"/>
          </a:solidFill>
          <a:ln/>
        </p:spPr>
      </p:sp>
      <p:sp>
        <p:nvSpPr>
          <p:cNvPr id="6" name="Text 4"/>
          <p:cNvSpPr/>
          <p:nvPr/>
        </p:nvSpPr>
        <p:spPr>
          <a:xfrm>
            <a:off x="1440180" y="1965960"/>
            <a:ext cx="822960" cy="82296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731520" y="3017520"/>
            <a:ext cx="2240280" cy="4114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Excel</a:t>
            </a:r>
            <a:endParaRPr lang="en-US" sz="1600" dirty="0"/>
          </a:p>
        </p:txBody>
      </p:sp>
      <p:sp>
        <p:nvSpPr>
          <p:cNvPr id="8" name="Text 6"/>
          <p:cNvSpPr/>
          <p:nvPr/>
        </p:nvSpPr>
        <p:spPr>
          <a:xfrm>
            <a:off x="822960" y="3520440"/>
            <a:ext cx="2057400" cy="1828800"/>
          </a:xfrm>
          <a:prstGeom prst="rect">
            <a:avLst/>
          </a:prstGeom>
          <a:noFill/>
          <a:ln/>
        </p:spPr>
        <p:txBody>
          <a:bodyPr wrap="square" rtlCol="0" anchor="ctr"/>
          <a:lstStyle/>
          <a:p>
            <a:pPr marL="0" indent="0" algn="ctr">
              <a:lnSpc>
                <a:spcPct val="125000"/>
              </a:lnSpc>
              <a:buNone/>
            </a:pPr>
            <a:r>
              <a:rPr lang="en-US" sz="1100" dirty="0">
                <a:solidFill>
                  <a:srgbClr val="DCEEF0"/>
                </a:solidFill>
                <a:latin typeface="Calibri" pitchFamily="34" charset="0"/>
                <a:ea typeface="Calibri" pitchFamily="34" charset="-122"/>
                <a:cs typeface="Calibri" pitchFamily="34" charset="-120"/>
              </a:rPr>
              <a:t>Data cleaning, lookups, pivot tables, charts &amp; dashboards</a:t>
            </a:r>
            <a:endParaRPr lang="en-US" sz="1100" dirty="0"/>
          </a:p>
        </p:txBody>
      </p:sp>
      <p:sp>
        <p:nvSpPr>
          <p:cNvPr id="9" name="Shape 7"/>
          <p:cNvSpPr/>
          <p:nvPr/>
        </p:nvSpPr>
        <p:spPr>
          <a:xfrm>
            <a:off x="3355848" y="1600200"/>
            <a:ext cx="2606040" cy="4023360"/>
          </a:xfrm>
          <a:prstGeom prst="roundRect">
            <a:avLst>
              <a:gd name="adj" fmla="val 2807"/>
            </a:avLst>
          </a:prstGeom>
          <a:solidFill>
            <a:srgbClr val="1B3358"/>
          </a:solidFill>
          <a:ln w="19050">
            <a:solidFill>
              <a:srgbClr val="0E7C86"/>
            </a:solidFill>
            <a:prstDash val="solid"/>
          </a:ln>
        </p:spPr>
      </p:sp>
      <p:sp>
        <p:nvSpPr>
          <p:cNvPr id="10" name="Shape 8"/>
          <p:cNvSpPr/>
          <p:nvPr/>
        </p:nvSpPr>
        <p:spPr>
          <a:xfrm>
            <a:off x="4247388" y="1965960"/>
            <a:ext cx="822960" cy="822960"/>
          </a:xfrm>
          <a:prstGeom prst="ellipse">
            <a:avLst/>
          </a:prstGeom>
          <a:solidFill>
            <a:srgbClr val="0E7C86"/>
          </a:solidFill>
          <a:ln/>
        </p:spPr>
      </p:sp>
      <p:sp>
        <p:nvSpPr>
          <p:cNvPr id="11" name="Text 9"/>
          <p:cNvSpPr/>
          <p:nvPr/>
        </p:nvSpPr>
        <p:spPr>
          <a:xfrm>
            <a:off x="4247388" y="1965960"/>
            <a:ext cx="822960" cy="82296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2" name="Text 10"/>
          <p:cNvSpPr/>
          <p:nvPr/>
        </p:nvSpPr>
        <p:spPr>
          <a:xfrm>
            <a:off x="3538728" y="3017520"/>
            <a:ext cx="2240280" cy="4114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MySQL Workbench</a:t>
            </a:r>
            <a:endParaRPr lang="en-US" sz="1600" dirty="0"/>
          </a:p>
        </p:txBody>
      </p:sp>
      <p:sp>
        <p:nvSpPr>
          <p:cNvPr id="13" name="Text 11"/>
          <p:cNvSpPr/>
          <p:nvPr/>
        </p:nvSpPr>
        <p:spPr>
          <a:xfrm>
            <a:off x="3630168" y="3520440"/>
            <a:ext cx="2057400" cy="1828800"/>
          </a:xfrm>
          <a:prstGeom prst="rect">
            <a:avLst/>
          </a:prstGeom>
          <a:noFill/>
          <a:ln/>
        </p:spPr>
        <p:txBody>
          <a:bodyPr wrap="square" rtlCol="0" anchor="ctr"/>
          <a:lstStyle/>
          <a:p>
            <a:pPr marL="0" indent="0" algn="ctr">
              <a:lnSpc>
                <a:spcPct val="125000"/>
              </a:lnSpc>
              <a:buNone/>
            </a:pPr>
            <a:r>
              <a:rPr lang="en-US" sz="1100" dirty="0">
                <a:solidFill>
                  <a:srgbClr val="DCEEF0"/>
                </a:solidFill>
                <a:latin typeface="Calibri" pitchFamily="34" charset="0"/>
                <a:ea typeface="Calibri" pitchFamily="34" charset="-122"/>
                <a:cs typeface="Calibri" pitchFamily="34" charset="-120"/>
              </a:rPr>
              <a:t>Table design, joins, views &amp; SQL queries</a:t>
            </a:r>
            <a:endParaRPr lang="en-US" sz="1100" dirty="0"/>
          </a:p>
        </p:txBody>
      </p:sp>
      <p:sp>
        <p:nvSpPr>
          <p:cNvPr id="14" name="Shape 12"/>
          <p:cNvSpPr/>
          <p:nvPr/>
        </p:nvSpPr>
        <p:spPr>
          <a:xfrm>
            <a:off x="6163056" y="1600200"/>
            <a:ext cx="2606040" cy="4023360"/>
          </a:xfrm>
          <a:prstGeom prst="roundRect">
            <a:avLst>
              <a:gd name="adj" fmla="val 2807"/>
            </a:avLst>
          </a:prstGeom>
          <a:solidFill>
            <a:srgbClr val="1B3358"/>
          </a:solidFill>
          <a:ln w="19050">
            <a:solidFill>
              <a:srgbClr val="E8871E"/>
            </a:solidFill>
            <a:prstDash val="solid"/>
          </a:ln>
        </p:spPr>
      </p:sp>
      <p:sp>
        <p:nvSpPr>
          <p:cNvPr id="15" name="Shape 13"/>
          <p:cNvSpPr/>
          <p:nvPr/>
        </p:nvSpPr>
        <p:spPr>
          <a:xfrm>
            <a:off x="7054596" y="1965960"/>
            <a:ext cx="822960" cy="822960"/>
          </a:xfrm>
          <a:prstGeom prst="ellipse">
            <a:avLst/>
          </a:prstGeom>
          <a:solidFill>
            <a:srgbClr val="E8871E"/>
          </a:solidFill>
          <a:ln/>
        </p:spPr>
      </p:sp>
      <p:sp>
        <p:nvSpPr>
          <p:cNvPr id="16" name="Text 14"/>
          <p:cNvSpPr/>
          <p:nvPr/>
        </p:nvSpPr>
        <p:spPr>
          <a:xfrm>
            <a:off x="7054596" y="1965960"/>
            <a:ext cx="822960" cy="82296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7" name="Text 15"/>
          <p:cNvSpPr/>
          <p:nvPr/>
        </p:nvSpPr>
        <p:spPr>
          <a:xfrm>
            <a:off x="6345936" y="3017520"/>
            <a:ext cx="2240280" cy="4114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Tableau</a:t>
            </a:r>
            <a:endParaRPr lang="en-US" sz="1600" dirty="0"/>
          </a:p>
        </p:txBody>
      </p:sp>
      <p:sp>
        <p:nvSpPr>
          <p:cNvPr id="18" name="Text 16"/>
          <p:cNvSpPr/>
          <p:nvPr/>
        </p:nvSpPr>
        <p:spPr>
          <a:xfrm>
            <a:off x="6437376" y="3520440"/>
            <a:ext cx="2057400" cy="1828800"/>
          </a:xfrm>
          <a:prstGeom prst="rect">
            <a:avLst/>
          </a:prstGeom>
          <a:noFill/>
          <a:ln/>
        </p:spPr>
        <p:txBody>
          <a:bodyPr wrap="square" rtlCol="0" anchor="ctr"/>
          <a:lstStyle/>
          <a:p>
            <a:pPr marL="0" indent="0" algn="ctr">
              <a:lnSpc>
                <a:spcPct val="125000"/>
              </a:lnSpc>
              <a:buNone/>
            </a:pPr>
            <a:r>
              <a:rPr lang="en-US" sz="1100" dirty="0">
                <a:solidFill>
                  <a:srgbClr val="DCEEF0"/>
                </a:solidFill>
                <a:latin typeface="Calibri" pitchFamily="34" charset="0"/>
                <a:ea typeface="Calibri" pitchFamily="34" charset="-122"/>
                <a:cs typeface="Calibri" pitchFamily="34" charset="-120"/>
              </a:rPr>
              <a:t>Data relationships, calculated fields &amp; interactive dashboards</a:t>
            </a:r>
            <a:endParaRPr lang="en-US" sz="1100" dirty="0"/>
          </a:p>
        </p:txBody>
      </p:sp>
      <p:sp>
        <p:nvSpPr>
          <p:cNvPr id="19" name="Shape 17"/>
          <p:cNvSpPr/>
          <p:nvPr/>
        </p:nvSpPr>
        <p:spPr>
          <a:xfrm>
            <a:off x="8970264" y="1600200"/>
            <a:ext cx="2606040" cy="4023360"/>
          </a:xfrm>
          <a:prstGeom prst="roundRect">
            <a:avLst>
              <a:gd name="adj" fmla="val 2807"/>
            </a:avLst>
          </a:prstGeom>
          <a:solidFill>
            <a:srgbClr val="1B3358"/>
          </a:solidFill>
          <a:ln w="19050">
            <a:solidFill>
              <a:srgbClr val="0E7C86"/>
            </a:solidFill>
            <a:prstDash val="solid"/>
          </a:ln>
        </p:spPr>
      </p:sp>
      <p:sp>
        <p:nvSpPr>
          <p:cNvPr id="20" name="Shape 18"/>
          <p:cNvSpPr/>
          <p:nvPr/>
        </p:nvSpPr>
        <p:spPr>
          <a:xfrm>
            <a:off x="9861804" y="1965960"/>
            <a:ext cx="822960" cy="822960"/>
          </a:xfrm>
          <a:prstGeom prst="ellipse">
            <a:avLst/>
          </a:prstGeom>
          <a:solidFill>
            <a:srgbClr val="0E7C86"/>
          </a:solidFill>
          <a:ln/>
        </p:spPr>
      </p:sp>
      <p:sp>
        <p:nvSpPr>
          <p:cNvPr id="21" name="Text 19"/>
          <p:cNvSpPr/>
          <p:nvPr/>
        </p:nvSpPr>
        <p:spPr>
          <a:xfrm>
            <a:off x="9861804" y="1965960"/>
            <a:ext cx="822960" cy="82296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22" name="Text 20"/>
          <p:cNvSpPr/>
          <p:nvPr/>
        </p:nvSpPr>
        <p:spPr>
          <a:xfrm>
            <a:off x="9153144" y="3017520"/>
            <a:ext cx="2240280" cy="4114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Power BI</a:t>
            </a:r>
            <a:endParaRPr lang="en-US" sz="1600" dirty="0"/>
          </a:p>
        </p:txBody>
      </p:sp>
      <p:sp>
        <p:nvSpPr>
          <p:cNvPr id="23" name="Text 21"/>
          <p:cNvSpPr/>
          <p:nvPr/>
        </p:nvSpPr>
        <p:spPr>
          <a:xfrm>
            <a:off x="9244584" y="3520440"/>
            <a:ext cx="2057400" cy="1828800"/>
          </a:xfrm>
          <a:prstGeom prst="rect">
            <a:avLst/>
          </a:prstGeom>
          <a:noFill/>
          <a:ln/>
        </p:spPr>
        <p:txBody>
          <a:bodyPr wrap="square" rtlCol="0" anchor="ctr"/>
          <a:lstStyle/>
          <a:p>
            <a:pPr marL="0" indent="0" algn="ctr">
              <a:lnSpc>
                <a:spcPct val="125000"/>
              </a:lnSpc>
              <a:buNone/>
            </a:pPr>
            <a:r>
              <a:rPr lang="en-US" sz="1100" dirty="0">
                <a:solidFill>
                  <a:srgbClr val="DCEEF0"/>
                </a:solidFill>
                <a:latin typeface="Calibri" pitchFamily="34" charset="0"/>
                <a:ea typeface="Calibri" pitchFamily="34" charset="-122"/>
                <a:cs typeface="Calibri" pitchFamily="34" charset="-120"/>
              </a:rPr>
              <a:t>Power Query, data modeling, DAX measures &amp; reports</a:t>
            </a:r>
            <a:endParaRPr lang="en-US" sz="1100" dirty="0"/>
          </a:p>
        </p:txBody>
      </p:sp>
      <p:sp>
        <p:nvSpPr>
          <p:cNvPr id="24" name="Text 22"/>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AdventureWorks Cycles  |  Sales Performance Analysis  |  Group 4</a:t>
            </a:r>
            <a:endParaRPr lang="en-US" sz="900" dirty="0"/>
          </a:p>
        </p:txBody>
      </p:sp>
      <p:sp>
        <p:nvSpPr>
          <p:cNvPr id="25" name="Text 2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42850"/>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E7C86">
              <a:alpha val="20000"/>
            </a:srgbClr>
          </a:solidFill>
          <a:ln/>
        </p:spPr>
      </p:sp>
      <p:sp>
        <p:nvSpPr>
          <p:cNvPr id="3" name="Shape 1"/>
          <p:cNvSpPr/>
          <p:nvPr/>
        </p:nvSpPr>
        <p:spPr>
          <a:xfrm>
            <a:off x="9875520" y="4114800"/>
            <a:ext cx="4114800" cy="4114800"/>
          </a:xfrm>
          <a:prstGeom prst="ellipse">
            <a:avLst/>
          </a:prstGeom>
          <a:solidFill>
            <a:srgbClr val="E8871E">
              <a:alpha val="18000"/>
            </a:srgbClr>
          </a:solidFill>
          <a:ln/>
        </p:spPr>
      </p:sp>
      <p:sp>
        <p:nvSpPr>
          <p:cNvPr id="4" name="Text 2"/>
          <p:cNvSpPr/>
          <p:nvPr/>
        </p:nvSpPr>
        <p:spPr>
          <a:xfrm>
            <a:off x="0" y="2651760"/>
            <a:ext cx="12161520" cy="91440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0" y="3520440"/>
            <a:ext cx="12161520" cy="457200"/>
          </a:xfrm>
          <a:prstGeom prst="rect">
            <a:avLst/>
          </a:prstGeom>
          <a:noFill/>
          <a:ln/>
        </p:spPr>
        <p:txBody>
          <a:bodyPr wrap="square" rtlCol="0" anchor="ctr"/>
          <a:lstStyle/>
          <a:p>
            <a:pPr marL="0" indent="0" algn="ctr">
              <a:buNone/>
            </a:pPr>
            <a:r>
              <a:rPr lang="en-US" sz="1500" i="1" dirty="0">
                <a:solidFill>
                  <a:srgbClr val="DCEEF0"/>
                </a:solidFill>
                <a:latin typeface="Calibri" pitchFamily="34" charset="0"/>
                <a:ea typeface="Calibri" pitchFamily="34" charset="-122"/>
                <a:cs typeface="Calibri" pitchFamily="34" charset="-120"/>
              </a:rPr>
              <a:t>Adventure Works — Sales Performance Analysis  |  Group 4</a:t>
            </a:r>
            <a:endParaRPr lang="en-US" sz="1500" dirty="0"/>
          </a:p>
        </p:txBody>
      </p:sp>
      <p:sp>
        <p:nvSpPr>
          <p:cNvPr id="6" name="Text 4"/>
          <p:cNvSpPr/>
          <p:nvPr/>
        </p:nvSpPr>
        <p:spPr>
          <a:xfrm>
            <a:off x="0" y="3977640"/>
            <a:ext cx="12161520" cy="365760"/>
          </a:xfrm>
          <a:prstGeom prst="rect">
            <a:avLst/>
          </a:prstGeom>
          <a:noFill/>
          <a:ln/>
        </p:spPr>
        <p:txBody>
          <a:bodyPr wrap="square" rtlCol="0" anchor="ctr"/>
          <a:lstStyle/>
          <a:p>
            <a:pPr marL="0" indent="0" algn="ctr">
              <a:buNone/>
            </a:pPr>
            <a:r>
              <a:rPr lang="en-US" sz="1200" b="1" kern="0" spc="200" dirty="0">
                <a:solidFill>
                  <a:srgbClr val="E8871E"/>
                </a:solidFill>
                <a:latin typeface="Calibri" pitchFamily="34" charset="0"/>
                <a:ea typeface="Calibri" pitchFamily="34" charset="-122"/>
                <a:cs typeface="Calibri" pitchFamily="34" charset="-120"/>
              </a:rPr>
              <a:t>Excel  •  SQL  •  Tableau  •  Power BI</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TotalTime>
  <Words>1483</Words>
  <Application>Microsoft Office PowerPoint</Application>
  <PresentationFormat>Widescreen</PresentationFormat>
  <Paragraphs>290</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Akshay Rathod</cp:lastModifiedBy>
  <cp:revision>7</cp:revision>
  <dcterms:created xsi:type="dcterms:W3CDTF">2026-08-22T08:47:55Z</dcterms:created>
  <dcterms:modified xsi:type="dcterms:W3CDTF">2026-08-26T12:49:57Z</dcterms:modified>
</cp:coreProperties>
</file>